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C7A18B37-842E-4CF7-A70F-1B09415F3244}">
          <p14:sldIdLst>
            <p14:sldId id="256"/>
            <p14:sldId id="257"/>
            <p14:sldId id="258"/>
            <p14:sldId id="259"/>
            <p14:sldId id="260"/>
            <p14:sldId id="261"/>
            <p14:sldId id="262"/>
            <p14:sldId id="263"/>
            <p14:sldId id="264"/>
            <p14:sldId id="265"/>
            <p14:sldId id="266"/>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tonio muñoz" initials="am" lastIdx="2" clrIdx="0">
    <p:extLst>
      <p:ext uri="{19B8F6BF-5375-455C-9EA6-DF929625EA0E}">
        <p15:presenceInfo xmlns:p15="http://schemas.microsoft.com/office/powerpoint/2012/main" userId="b5d254e14e690cd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63" autoAdjust="0"/>
    <p:restoredTop sz="94660"/>
  </p:normalViewPr>
  <p:slideViewPr>
    <p:cSldViewPr snapToGrid="0">
      <p:cViewPr varScale="1">
        <p:scale>
          <a:sx n="87" d="100"/>
          <a:sy n="87" d="100"/>
        </p:scale>
        <p:origin x="56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11/30/2019</a:t>
            </a:fld>
            <a:endParaRPr lang="en-US" dirty="0"/>
          </a:p>
        </p:txBody>
      </p:sp>
      <p:sp>
        <p:nvSpPr>
          <p:cNvPr id="5" name="Footer Placeholder 4"/>
          <p:cNvSpPr>
            <a:spLocks noGrp="1"/>
          </p:cNvSpPr>
          <p:nvPr>
            <p:ph type="ftr" sz="quarter" idx="11"/>
          </p:nvPr>
        </p:nvSpPr>
        <p:spPr>
          <a:xfrm>
            <a:off x="1127124" y="329307"/>
            <a:ext cx="5943668" cy="309201"/>
          </a:xfrm>
        </p:spPr>
        <p:txBody>
          <a:bodyPr/>
          <a:lstStyle/>
          <a:p>
            <a:endParaRPr lang="en-US" dirty="0"/>
          </a:p>
        </p:txBody>
      </p:sp>
      <p:sp>
        <p:nvSpPr>
          <p:cNvPr id="6" name="Slide Number Placeholder 5"/>
          <p:cNvSpPr>
            <a:spLocks noGrp="1"/>
          </p:cNvSpPr>
          <p:nvPr>
            <p:ph type="sldNum" sz="quarter" idx="12"/>
          </p:nvPr>
        </p:nvSpPr>
        <p:spPr>
          <a:xfrm>
            <a:off x="9924392" y="134930"/>
            <a:ext cx="811019" cy="503578"/>
          </a:xfrm>
        </p:spPr>
        <p:txBody>
          <a:bodyPr/>
          <a:lstStyle/>
          <a:p>
            <a:fld id="{6D22F896-40B5-4ADD-8801-0D06FADFA095}" type="slidenum">
              <a:rPr lang="en-US" dirty="0"/>
              <a:t>‹Nº›</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lvl1pPr>
              <a:defRPr sz="1200"/>
            </a:lvl1pPr>
          </a:lstStyle>
          <a:p>
            <a:fld id="{48A87A34-81AB-432B-8DAE-1953F412C126}" type="datetimeFigureOut">
              <a:rPr lang="en-US" dirty="0"/>
              <a:pPr/>
              <a:t>11/30/2019</a:t>
            </a:fld>
            <a:endParaRPr lang="en-US" dirty="0"/>
          </a:p>
        </p:txBody>
      </p:sp>
      <p:sp>
        <p:nvSpPr>
          <p:cNvPr id="5" name="Footer Placeholder 4"/>
          <p:cNvSpPr>
            <a:spLocks noGrp="1"/>
          </p:cNvSpPr>
          <p:nvPr>
            <p:ph type="ftr" sz="quarter" idx="11"/>
          </p:nvPr>
        </p:nvSpPr>
        <p:spPr/>
        <p:txBody>
          <a:bodyPr/>
          <a:lstStyle>
            <a:lvl1pPr>
              <a:defRPr sz="1200"/>
            </a:lvl1p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s-ES"/>
              <a:t>Haga clic para modificar el estilo de título del patrón</a:t>
            </a:r>
            <a:endParaRPr lang="en-US" dirty="0"/>
          </a:p>
        </p:txBody>
      </p:sp>
      <p:sp>
        <p:nvSpPr>
          <p:cNvPr id="3" name="Text Placeholder 2"/>
          <p:cNvSpPr>
            <a:spLocks noGrp="1"/>
          </p:cNvSpPr>
          <p:nvPr>
            <p:ph type="body" idx="1" hasCustomPrompt="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11/30/2019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11/30/2019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29166" y="2974448"/>
            <a:ext cx="4645152" cy="24938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094337" y="2971669"/>
            <a:ext cx="4645152" cy="248719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11/30/2019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11/30/2019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11/30/2019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11/30/2019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48A87A34-81AB-432B-8DAE-1953F412C126}" type="datetimeFigureOut">
              <a:rPr lang="en-US" dirty="0"/>
              <a:pPr/>
              <a:t>11/30/2019</a:t>
            </a:fld>
            <a:endParaRPr lang="en-US" dirty="0"/>
          </a:p>
        </p:txBody>
      </p:sp>
      <p:sp>
        <p:nvSpPr>
          <p:cNvPr id="6" name="Footer Placeholder 5"/>
          <p:cNvSpPr>
            <a:spLocks noGrp="1"/>
          </p:cNvSpPr>
          <p:nvPr>
            <p:ph type="ftr" sz="quarter" idx="11"/>
          </p:nvPr>
        </p:nvSpPr>
        <p:spPr>
          <a:xfrm>
            <a:off x="1125300" y="318640"/>
            <a:ext cx="4877818" cy="320931"/>
          </a:xfrm>
        </p:spPr>
        <p:txBody>
          <a:bodyPr/>
          <a:lstStyle/>
          <a:p>
            <a:endParaRPr lang="en-US" dirty="0"/>
          </a:p>
        </p:txBody>
      </p:sp>
      <p:sp>
        <p:nvSpPr>
          <p:cNvPr id="7" name="Slide Number Placeholder 6"/>
          <p:cNvSpPr>
            <a:spLocks noGrp="1"/>
          </p:cNvSpPr>
          <p:nvPr>
            <p:ph type="sldNum" sz="quarter" idx="12"/>
          </p:nvPr>
        </p:nvSpPr>
        <p:spPr>
          <a:xfrm>
            <a:off x="6176794" y="137408"/>
            <a:ext cx="811019" cy="503578"/>
          </a:xfrm>
        </p:spPr>
        <p:txBody>
          <a:bodyPr/>
          <a:lstStyle/>
          <a:p>
            <a:fld id="{6D22F896-40B5-4ADD-8801-0D06FADFA095}" type="slidenum">
              <a:rPr lang="en-US" dirty="0"/>
              <a:t>‹Nº›</a:t>
            </a:fld>
            <a:endParaRPr lang="en-US" dirty="0"/>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11/30/2019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11/30/2019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11/30/2019</a:t>
            </a:fld>
            <a:endParaRPr lang="en-US" dirty="0"/>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DC351A-4710-46FA-826E-BF5BEE197B4E}"/>
              </a:ext>
            </a:extLst>
          </p:cNvPr>
          <p:cNvSpPr>
            <a:spLocks noGrp="1"/>
          </p:cNvSpPr>
          <p:nvPr>
            <p:ph type="ctrTitle"/>
          </p:nvPr>
        </p:nvSpPr>
        <p:spPr/>
        <p:txBody>
          <a:bodyPr>
            <a:normAutofit fontScale="90000"/>
          </a:bodyPr>
          <a:lstStyle/>
          <a:p>
            <a:r>
              <a:rPr lang="es-ES" dirty="0"/>
              <a:t>Lenguajes de marca y sistemas de información</a:t>
            </a:r>
          </a:p>
        </p:txBody>
      </p:sp>
      <p:sp>
        <p:nvSpPr>
          <p:cNvPr id="3" name="Subtítulo 2">
            <a:extLst>
              <a:ext uri="{FF2B5EF4-FFF2-40B4-BE49-F238E27FC236}">
                <a16:creationId xmlns:a16="http://schemas.microsoft.com/office/drawing/2014/main" id="{5346E8C7-DD41-43C5-AA59-0F2EAD0DFD9F}"/>
              </a:ext>
            </a:extLst>
          </p:cNvPr>
          <p:cNvSpPr>
            <a:spLocks noGrp="1"/>
          </p:cNvSpPr>
          <p:nvPr>
            <p:ph type="subTitle" idx="1"/>
          </p:nvPr>
        </p:nvSpPr>
        <p:spPr/>
        <p:txBody>
          <a:bodyPr>
            <a:normAutofit/>
          </a:bodyPr>
          <a:lstStyle/>
          <a:p>
            <a:r>
              <a:rPr lang="es-ES" b="1" dirty="0"/>
              <a:t>UD02: Formularios, tablas y estructura en HTML</a:t>
            </a:r>
            <a:endParaRPr lang="es-ES" dirty="0"/>
          </a:p>
          <a:p>
            <a:r>
              <a:rPr lang="es-ES" dirty="0"/>
              <a:t>Tema 4: Posicionamiento y visualización</a:t>
            </a:r>
          </a:p>
        </p:txBody>
      </p:sp>
      <p:sp>
        <p:nvSpPr>
          <p:cNvPr id="4" name="CuadroTexto 3">
            <a:extLst>
              <a:ext uri="{FF2B5EF4-FFF2-40B4-BE49-F238E27FC236}">
                <a16:creationId xmlns:a16="http://schemas.microsoft.com/office/drawing/2014/main" id="{6385C97C-158E-47B9-BCD0-554279371DBA}"/>
              </a:ext>
            </a:extLst>
          </p:cNvPr>
          <p:cNvSpPr txBox="1"/>
          <p:nvPr/>
        </p:nvSpPr>
        <p:spPr>
          <a:xfrm>
            <a:off x="7403123" y="5029199"/>
            <a:ext cx="4424609" cy="646331"/>
          </a:xfrm>
          <a:prstGeom prst="rect">
            <a:avLst/>
          </a:prstGeom>
          <a:noFill/>
        </p:spPr>
        <p:txBody>
          <a:bodyPr wrap="none" rtlCol="0">
            <a:spAutoFit/>
          </a:bodyPr>
          <a:lstStyle/>
          <a:p>
            <a:r>
              <a:rPr lang="es-ES" dirty="0"/>
              <a:t>CIFP a Carballeira – Marcos Valcárcel</a:t>
            </a:r>
          </a:p>
          <a:p>
            <a:pPr algn="r"/>
            <a:r>
              <a:rPr lang="es-ES" dirty="0"/>
              <a:t>Antonio Muñoz Rubio</a:t>
            </a:r>
          </a:p>
        </p:txBody>
      </p:sp>
    </p:spTree>
    <p:extLst>
      <p:ext uri="{BB962C8B-B14F-4D97-AF65-F5344CB8AC3E}">
        <p14:creationId xmlns:p14="http://schemas.microsoft.com/office/powerpoint/2010/main" val="2093493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76CA5E-0C1C-41DE-B9F1-0F3834FD6DD4}"/>
              </a:ext>
            </a:extLst>
          </p:cNvPr>
          <p:cNvSpPr>
            <a:spLocks noGrp="1"/>
          </p:cNvSpPr>
          <p:nvPr>
            <p:ph type="title"/>
          </p:nvPr>
        </p:nvSpPr>
        <p:spPr/>
        <p:txBody>
          <a:bodyPr/>
          <a:lstStyle/>
          <a:p>
            <a:r>
              <a:rPr lang="es-ES" dirty="0"/>
              <a:t>Tipos de posicionamiento</a:t>
            </a:r>
          </a:p>
        </p:txBody>
      </p:sp>
      <p:sp>
        <p:nvSpPr>
          <p:cNvPr id="3" name="Marcador de contenido 2">
            <a:extLst>
              <a:ext uri="{FF2B5EF4-FFF2-40B4-BE49-F238E27FC236}">
                <a16:creationId xmlns:a16="http://schemas.microsoft.com/office/drawing/2014/main" id="{D1693C6D-323E-4775-9AFA-81176D7FC923}"/>
              </a:ext>
            </a:extLst>
          </p:cNvPr>
          <p:cNvSpPr>
            <a:spLocks noGrp="1"/>
          </p:cNvSpPr>
          <p:nvPr>
            <p:ph idx="1"/>
          </p:nvPr>
        </p:nvSpPr>
        <p:spPr>
          <a:xfrm>
            <a:off x="1130270" y="1802491"/>
            <a:ext cx="9603275" cy="4290578"/>
          </a:xfrm>
        </p:spPr>
        <p:txBody>
          <a:bodyPr>
            <a:normAutofit fontScale="77500" lnSpcReduction="20000"/>
          </a:bodyPr>
          <a:lstStyle/>
          <a:p>
            <a:r>
              <a:rPr lang="es-ES" b="1" dirty="0"/>
              <a:t>Posicionamiento normal o estático</a:t>
            </a:r>
            <a:r>
              <a:rPr lang="es-ES" dirty="0"/>
              <a:t>: es el que usan los navegadores por defecto si no se indica lo contrario</a:t>
            </a:r>
          </a:p>
          <a:p>
            <a:r>
              <a:rPr lang="es-ES" b="1" dirty="0"/>
              <a:t>Posicionamiento relativo</a:t>
            </a:r>
            <a:r>
              <a:rPr lang="es-ES" dirty="0"/>
              <a:t>: variante del posicionamiento normal que consiste en posicionar una caja según el posicionamiento normal y después desplazarla respecto de su posición original.</a:t>
            </a:r>
          </a:p>
          <a:p>
            <a:r>
              <a:rPr lang="es-ES" b="1" dirty="0"/>
              <a:t>Posicionamiento absoluto</a:t>
            </a:r>
            <a:r>
              <a:rPr lang="es-ES" dirty="0"/>
              <a:t>: la posición de una caja se establece de forma absoluta respecto de su elemento contenedor y el resto de elementos de la página ignoran la nueva posición del elemento.</a:t>
            </a:r>
          </a:p>
          <a:p>
            <a:r>
              <a:rPr lang="es-ES" b="1" dirty="0"/>
              <a:t>Posicionamiento fijo</a:t>
            </a:r>
            <a:r>
              <a:rPr lang="es-ES" dirty="0"/>
              <a:t>: variante del posicionamiento absoluto que convierte una caja en un elemento inamovible, de forma que su posición en la pantalla siempre es la misma independientemente del resto de elementos e independientemente de si el usuario sube o baja la página en la ventana del navegador.</a:t>
            </a:r>
          </a:p>
          <a:p>
            <a:r>
              <a:rPr lang="es-ES" b="1" dirty="0"/>
              <a:t>Posicionamiento flotante</a:t>
            </a:r>
            <a:r>
              <a:rPr lang="es-ES" dirty="0"/>
              <a:t>: se trata del modelo más especial de posicionamiento, ya que desplaza las cajas todo lo posible hacia la izquierda o hacia la derecha de la línea en la que se encuentran.</a:t>
            </a:r>
          </a:p>
        </p:txBody>
      </p:sp>
    </p:spTree>
    <p:extLst>
      <p:ext uri="{BB962C8B-B14F-4D97-AF65-F5344CB8AC3E}">
        <p14:creationId xmlns:p14="http://schemas.microsoft.com/office/powerpoint/2010/main" val="2449840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A971D1-715C-4717-908F-CCB7E18A3FCD}"/>
              </a:ext>
            </a:extLst>
          </p:cNvPr>
          <p:cNvSpPr>
            <a:spLocks noGrp="1"/>
          </p:cNvSpPr>
          <p:nvPr>
            <p:ph type="title"/>
          </p:nvPr>
        </p:nvSpPr>
        <p:spPr/>
        <p:txBody>
          <a:bodyPr/>
          <a:lstStyle/>
          <a:p>
            <a:r>
              <a:rPr lang="es-ES" dirty="0"/>
              <a:t>La propiedad CSS </a:t>
            </a:r>
            <a:r>
              <a:rPr lang="es-ES" dirty="0">
                <a:latin typeface="Consolas" panose="020B0609020204030204" pitchFamily="49" charset="0"/>
              </a:rPr>
              <a:t>position</a:t>
            </a:r>
          </a:p>
        </p:txBody>
      </p:sp>
      <p:sp>
        <p:nvSpPr>
          <p:cNvPr id="3" name="Marcador de contenido 2">
            <a:extLst>
              <a:ext uri="{FF2B5EF4-FFF2-40B4-BE49-F238E27FC236}">
                <a16:creationId xmlns:a16="http://schemas.microsoft.com/office/drawing/2014/main" id="{19A5D111-6EE7-4C33-A1CA-92DF0688FE5F}"/>
              </a:ext>
            </a:extLst>
          </p:cNvPr>
          <p:cNvSpPr>
            <a:spLocks noGrp="1"/>
          </p:cNvSpPr>
          <p:nvPr>
            <p:ph idx="1"/>
          </p:nvPr>
        </p:nvSpPr>
        <p:spPr/>
        <p:txBody>
          <a:bodyPr>
            <a:normAutofit/>
          </a:bodyPr>
          <a:lstStyle/>
          <a:p>
            <a:r>
              <a:rPr lang="es-ES" dirty="0"/>
              <a:t>Permite modificar el tipo de posicionamiento con el que se mostrará una caja o elemento</a:t>
            </a:r>
          </a:p>
          <a:p>
            <a:r>
              <a:rPr lang="es-ES" dirty="0"/>
              <a:t>CSS define cuatro propiedades llamadas </a:t>
            </a:r>
            <a:r>
              <a:rPr lang="es-ES" dirty="0">
                <a:latin typeface="Consolas" panose="020B0609020204030204" pitchFamily="49" charset="0"/>
              </a:rPr>
              <a:t>top</a:t>
            </a:r>
            <a:r>
              <a:rPr lang="es-ES" dirty="0"/>
              <a:t>, </a:t>
            </a:r>
            <a:r>
              <a:rPr lang="es-ES" dirty="0" err="1">
                <a:latin typeface="Consolas" panose="020B0609020204030204" pitchFamily="49" charset="0"/>
              </a:rPr>
              <a:t>right</a:t>
            </a:r>
            <a:r>
              <a:rPr lang="es-ES" dirty="0"/>
              <a:t>, </a:t>
            </a:r>
            <a:r>
              <a:rPr lang="es-ES" dirty="0" err="1">
                <a:latin typeface="Consolas" panose="020B0609020204030204" pitchFamily="49" charset="0"/>
              </a:rPr>
              <a:t>bottom</a:t>
            </a:r>
            <a:r>
              <a:rPr lang="es-ES" dirty="0"/>
              <a:t> y </a:t>
            </a:r>
            <a:r>
              <a:rPr lang="es-ES" dirty="0" err="1">
                <a:latin typeface="Consolas" panose="020B0609020204030204" pitchFamily="49" charset="0"/>
              </a:rPr>
              <a:t>left</a:t>
            </a:r>
            <a:r>
              <a:rPr lang="es-ES" dirty="0"/>
              <a:t> para controlar el desplazamiento de las cajas posicionadas</a:t>
            </a:r>
          </a:p>
          <a:p>
            <a:r>
              <a:rPr lang="es-ES" dirty="0"/>
              <a:t>La propiedad </a:t>
            </a:r>
            <a:r>
              <a:rPr lang="es-ES" dirty="0">
                <a:latin typeface="Consolas" panose="020B0609020204030204" pitchFamily="49" charset="0"/>
              </a:rPr>
              <a:t>position</a:t>
            </a:r>
            <a:r>
              <a:rPr lang="es-ES" dirty="0"/>
              <a:t> no permite controlar el posicionamiento flotante, que se establece con otra propiedad llamada </a:t>
            </a:r>
            <a:r>
              <a:rPr lang="es-ES" dirty="0" err="1">
                <a:latin typeface="Consolas" panose="020B0609020204030204" pitchFamily="49" charset="0"/>
              </a:rPr>
              <a:t>float</a:t>
            </a:r>
            <a:r>
              <a:rPr lang="es-ES" dirty="0"/>
              <a:t> y que se explica más adelante. Además, la propiedad position sólo indica cómo se posiciona una caja, pero no la desplaza</a:t>
            </a:r>
          </a:p>
        </p:txBody>
      </p:sp>
    </p:spTree>
    <p:extLst>
      <p:ext uri="{BB962C8B-B14F-4D97-AF65-F5344CB8AC3E}">
        <p14:creationId xmlns:p14="http://schemas.microsoft.com/office/powerpoint/2010/main" val="3498366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885FD7-B02C-43B0-9569-E795976B5502}"/>
              </a:ext>
            </a:extLst>
          </p:cNvPr>
          <p:cNvSpPr>
            <a:spLocks noGrp="1"/>
          </p:cNvSpPr>
          <p:nvPr>
            <p:ph type="title"/>
          </p:nvPr>
        </p:nvSpPr>
        <p:spPr/>
        <p:txBody>
          <a:bodyPr/>
          <a:lstStyle/>
          <a:p>
            <a:r>
              <a:rPr lang="es-ES" dirty="0"/>
              <a:t>La propiedad CSS </a:t>
            </a:r>
            <a:r>
              <a:rPr lang="es-ES" dirty="0">
                <a:latin typeface="Consolas" panose="020B0609020204030204" pitchFamily="49" charset="0"/>
              </a:rPr>
              <a:t>position</a:t>
            </a:r>
            <a:endParaRPr lang="es-ES" dirty="0"/>
          </a:p>
        </p:txBody>
      </p:sp>
      <p:sp>
        <p:nvSpPr>
          <p:cNvPr id="3" name="Marcador de contenido 2">
            <a:extLst>
              <a:ext uri="{FF2B5EF4-FFF2-40B4-BE49-F238E27FC236}">
                <a16:creationId xmlns:a16="http://schemas.microsoft.com/office/drawing/2014/main" id="{9323E9C8-8CA3-44A2-93DF-21C39FA28261}"/>
              </a:ext>
            </a:extLst>
          </p:cNvPr>
          <p:cNvSpPr>
            <a:spLocks noGrp="1"/>
          </p:cNvSpPr>
          <p:nvPr>
            <p:ph idx="1"/>
          </p:nvPr>
        </p:nvSpPr>
        <p:spPr>
          <a:xfrm>
            <a:off x="1130270" y="2171768"/>
            <a:ext cx="9603275" cy="3732907"/>
          </a:xfrm>
        </p:spPr>
        <p:txBody>
          <a:bodyPr>
            <a:normAutofit fontScale="85000" lnSpcReduction="10000"/>
          </a:bodyPr>
          <a:lstStyle/>
          <a:p>
            <a:r>
              <a:rPr lang="es-ES" dirty="0"/>
              <a:t>El significado de cada uno de los posibles valores de la propiedad position es el siguiente:</a:t>
            </a:r>
          </a:p>
          <a:p>
            <a:pPr lvl="1"/>
            <a:r>
              <a:rPr lang="es-ES" dirty="0" err="1">
                <a:latin typeface="Consolas" panose="020B0609020204030204" pitchFamily="49" charset="0"/>
              </a:rPr>
              <a:t>static</a:t>
            </a:r>
            <a:r>
              <a:rPr lang="es-ES" dirty="0"/>
              <a:t>: corresponde al posicionamiento normal o estático. Si se utiliza este valor, se ignoran los valores de las propiedades </a:t>
            </a:r>
            <a:r>
              <a:rPr lang="es-ES" dirty="0">
                <a:latin typeface="Consolas" panose="020B0609020204030204" pitchFamily="49" charset="0"/>
              </a:rPr>
              <a:t>top</a:t>
            </a:r>
            <a:r>
              <a:rPr lang="es-ES" dirty="0"/>
              <a:t>, </a:t>
            </a:r>
            <a:r>
              <a:rPr lang="es-ES" dirty="0" err="1">
                <a:latin typeface="Consolas" panose="020B0609020204030204" pitchFamily="49" charset="0"/>
              </a:rPr>
              <a:t>right</a:t>
            </a:r>
            <a:r>
              <a:rPr lang="es-ES" dirty="0"/>
              <a:t>, </a:t>
            </a:r>
            <a:r>
              <a:rPr lang="es-ES" dirty="0" err="1">
                <a:latin typeface="Consolas" panose="020B0609020204030204" pitchFamily="49" charset="0"/>
              </a:rPr>
              <a:t>bottom</a:t>
            </a:r>
            <a:r>
              <a:rPr lang="es-ES" dirty="0"/>
              <a:t> y </a:t>
            </a:r>
            <a:r>
              <a:rPr lang="es-ES" dirty="0" err="1">
                <a:latin typeface="Consolas" panose="020B0609020204030204" pitchFamily="49" charset="0"/>
              </a:rPr>
              <a:t>left</a:t>
            </a:r>
            <a:r>
              <a:rPr lang="es-ES" dirty="0"/>
              <a:t> </a:t>
            </a:r>
          </a:p>
          <a:p>
            <a:pPr lvl="1"/>
            <a:r>
              <a:rPr lang="es-ES" dirty="0" err="1">
                <a:latin typeface="Consolas" panose="020B0609020204030204" pitchFamily="49" charset="0"/>
              </a:rPr>
              <a:t>relative</a:t>
            </a:r>
            <a:r>
              <a:rPr lang="es-ES" dirty="0"/>
              <a:t>: corresponde al posicionamiento relativo. El desplazamiento de la caja se controla con las propiedades </a:t>
            </a:r>
            <a:r>
              <a:rPr lang="es-ES" dirty="0">
                <a:latin typeface="Consolas" panose="020B0609020204030204" pitchFamily="49" charset="0"/>
              </a:rPr>
              <a:t>top</a:t>
            </a:r>
            <a:r>
              <a:rPr lang="es-ES" dirty="0"/>
              <a:t>, </a:t>
            </a:r>
            <a:r>
              <a:rPr lang="es-ES" dirty="0" err="1">
                <a:latin typeface="Consolas" panose="020B0609020204030204" pitchFamily="49" charset="0"/>
              </a:rPr>
              <a:t>right</a:t>
            </a:r>
            <a:r>
              <a:rPr lang="es-ES" dirty="0"/>
              <a:t>, </a:t>
            </a:r>
            <a:r>
              <a:rPr lang="es-ES" dirty="0" err="1">
                <a:latin typeface="Consolas" panose="020B0609020204030204" pitchFamily="49" charset="0"/>
              </a:rPr>
              <a:t>bottom</a:t>
            </a:r>
            <a:r>
              <a:rPr lang="es-ES" dirty="0"/>
              <a:t> y </a:t>
            </a:r>
            <a:r>
              <a:rPr lang="es-ES" dirty="0" err="1">
                <a:latin typeface="Consolas" panose="020B0609020204030204" pitchFamily="49" charset="0"/>
              </a:rPr>
              <a:t>left</a:t>
            </a:r>
            <a:r>
              <a:rPr lang="es-ES" dirty="0"/>
              <a:t> </a:t>
            </a:r>
          </a:p>
          <a:p>
            <a:pPr lvl="1"/>
            <a:r>
              <a:rPr lang="es-ES" dirty="0" err="1">
                <a:latin typeface="Consolas" panose="020B0609020204030204" pitchFamily="49" charset="0"/>
              </a:rPr>
              <a:t>absolute</a:t>
            </a:r>
            <a:r>
              <a:rPr lang="es-ES" dirty="0"/>
              <a:t>: corresponde al posicionamiento absoluto. El desplazamiento de la caja también se controla con las propiedades </a:t>
            </a:r>
            <a:r>
              <a:rPr lang="es-ES" dirty="0">
                <a:latin typeface="Consolas" panose="020B0609020204030204" pitchFamily="49" charset="0"/>
              </a:rPr>
              <a:t>top</a:t>
            </a:r>
            <a:r>
              <a:rPr lang="es-ES" dirty="0"/>
              <a:t>, </a:t>
            </a:r>
            <a:r>
              <a:rPr lang="es-ES" dirty="0" err="1">
                <a:latin typeface="Consolas" panose="020B0609020204030204" pitchFamily="49" charset="0"/>
              </a:rPr>
              <a:t>right</a:t>
            </a:r>
            <a:r>
              <a:rPr lang="es-ES" dirty="0"/>
              <a:t>, </a:t>
            </a:r>
            <a:r>
              <a:rPr lang="es-ES" dirty="0" err="1">
                <a:latin typeface="Consolas" panose="020B0609020204030204" pitchFamily="49" charset="0"/>
              </a:rPr>
              <a:t>bottom</a:t>
            </a:r>
            <a:r>
              <a:rPr lang="es-ES" dirty="0"/>
              <a:t> y </a:t>
            </a:r>
            <a:r>
              <a:rPr lang="es-ES" dirty="0" err="1">
                <a:latin typeface="Consolas" panose="020B0609020204030204" pitchFamily="49" charset="0"/>
              </a:rPr>
              <a:t>left</a:t>
            </a:r>
            <a:r>
              <a:rPr lang="es-ES" dirty="0"/>
              <a:t> , pero su interpretación es mucho más compleja, ya que el origen de coordenadas del desplazamiento depende del posicionamiento de su elemento contenedor</a:t>
            </a:r>
          </a:p>
          <a:p>
            <a:pPr lvl="1"/>
            <a:r>
              <a:rPr lang="es-ES" dirty="0" err="1">
                <a:latin typeface="Consolas" panose="020B0609020204030204" pitchFamily="49" charset="0"/>
              </a:rPr>
              <a:t>fixed</a:t>
            </a:r>
            <a:r>
              <a:rPr lang="es-ES" dirty="0"/>
              <a:t>: corresponde al posicionamiento fijo. El desplazamiento se establece de la misma forma que en el posicionamiento absoluto, pero en este caso el elemento permanece inamovible en la pantalla</a:t>
            </a:r>
          </a:p>
        </p:txBody>
      </p:sp>
    </p:spTree>
    <p:extLst>
      <p:ext uri="{BB962C8B-B14F-4D97-AF65-F5344CB8AC3E}">
        <p14:creationId xmlns:p14="http://schemas.microsoft.com/office/powerpoint/2010/main" val="914824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C1EEC8-5D89-4E73-900E-2C718A8D3D7D}"/>
              </a:ext>
            </a:extLst>
          </p:cNvPr>
          <p:cNvSpPr>
            <a:spLocks noGrp="1"/>
          </p:cNvSpPr>
          <p:nvPr>
            <p:ph type="title"/>
          </p:nvPr>
        </p:nvSpPr>
        <p:spPr/>
        <p:txBody>
          <a:bodyPr/>
          <a:lstStyle/>
          <a:p>
            <a:r>
              <a:rPr lang="es-ES" dirty="0"/>
              <a:t>Posicionamiento normal (</a:t>
            </a:r>
            <a:r>
              <a:rPr lang="es-ES" dirty="0" err="1">
                <a:latin typeface="Consolas" panose="020B0609020204030204" pitchFamily="49" charset="0"/>
              </a:rPr>
              <a:t>static</a:t>
            </a:r>
            <a:r>
              <a:rPr lang="es-ES" dirty="0"/>
              <a:t>)</a:t>
            </a:r>
          </a:p>
        </p:txBody>
      </p:sp>
      <p:sp>
        <p:nvSpPr>
          <p:cNvPr id="3" name="Marcador de contenido 2">
            <a:extLst>
              <a:ext uri="{FF2B5EF4-FFF2-40B4-BE49-F238E27FC236}">
                <a16:creationId xmlns:a16="http://schemas.microsoft.com/office/drawing/2014/main" id="{626E7659-016E-4987-83C5-16749CFF59EF}"/>
              </a:ext>
            </a:extLst>
          </p:cNvPr>
          <p:cNvSpPr>
            <a:spLocks noGrp="1"/>
          </p:cNvSpPr>
          <p:nvPr>
            <p:ph idx="1"/>
          </p:nvPr>
        </p:nvSpPr>
        <p:spPr/>
        <p:txBody>
          <a:bodyPr/>
          <a:lstStyle/>
          <a:p>
            <a:r>
              <a:rPr lang="es-ES" dirty="0"/>
              <a:t>El posicionamiento normal o estático es el modelo que utilizan por defecto los navegadores para mostrar los elementos de las páginas. En este modelo, sólo se tiene en cuenta si el elemento es de bloque o en línea, sus propiedades </a:t>
            </a:r>
            <a:r>
              <a:rPr lang="es-ES" dirty="0" err="1">
                <a:latin typeface="Consolas" panose="020B0609020204030204" pitchFamily="49" charset="0"/>
              </a:rPr>
              <a:t>width</a:t>
            </a:r>
            <a:r>
              <a:rPr lang="es-ES" dirty="0"/>
              <a:t> y </a:t>
            </a:r>
            <a:r>
              <a:rPr lang="es-ES" dirty="0" err="1">
                <a:latin typeface="Consolas" panose="020B0609020204030204" pitchFamily="49" charset="0"/>
              </a:rPr>
              <a:t>height</a:t>
            </a:r>
            <a:r>
              <a:rPr lang="es-ES" dirty="0"/>
              <a:t> y su contenido.</a:t>
            </a:r>
          </a:p>
        </p:txBody>
      </p:sp>
      <p:pic>
        <p:nvPicPr>
          <p:cNvPr id="4" name="Imagen 3">
            <a:extLst>
              <a:ext uri="{FF2B5EF4-FFF2-40B4-BE49-F238E27FC236}">
                <a16:creationId xmlns:a16="http://schemas.microsoft.com/office/drawing/2014/main" id="{C831C780-6F9E-4A99-8702-7406E90140DD}"/>
              </a:ext>
            </a:extLst>
          </p:cNvPr>
          <p:cNvPicPr>
            <a:picLocks noChangeAspect="1"/>
          </p:cNvPicPr>
          <p:nvPr/>
        </p:nvPicPr>
        <p:blipFill>
          <a:blip r:embed="rId2"/>
          <a:stretch>
            <a:fillRect/>
          </a:stretch>
        </p:blipFill>
        <p:spPr>
          <a:xfrm>
            <a:off x="1458455" y="4145630"/>
            <a:ext cx="4381500" cy="2352675"/>
          </a:xfrm>
          <a:prstGeom prst="rect">
            <a:avLst/>
          </a:prstGeom>
          <a:ln>
            <a:noFill/>
          </a:ln>
          <a:effectLst>
            <a:outerShdw blurRad="292100" dist="139700" dir="2700000" algn="tl" rotWithShape="0">
              <a:srgbClr val="333333">
                <a:alpha val="65000"/>
              </a:srgbClr>
            </a:outerShdw>
          </a:effectLst>
        </p:spPr>
      </p:pic>
      <p:pic>
        <p:nvPicPr>
          <p:cNvPr id="5" name="Imagen 4">
            <a:extLst>
              <a:ext uri="{FF2B5EF4-FFF2-40B4-BE49-F238E27FC236}">
                <a16:creationId xmlns:a16="http://schemas.microsoft.com/office/drawing/2014/main" id="{597118E1-A51D-484D-99E3-7EE076D152F8}"/>
              </a:ext>
            </a:extLst>
          </p:cNvPr>
          <p:cNvPicPr>
            <a:picLocks noChangeAspect="1"/>
          </p:cNvPicPr>
          <p:nvPr/>
        </p:nvPicPr>
        <p:blipFill>
          <a:blip r:embed="rId3"/>
          <a:stretch>
            <a:fillRect/>
          </a:stretch>
        </p:blipFill>
        <p:spPr>
          <a:xfrm>
            <a:off x="6352047" y="4136105"/>
            <a:ext cx="4343400" cy="23622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01675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0ACC0E-D039-4917-A209-05187B06889F}"/>
              </a:ext>
            </a:extLst>
          </p:cNvPr>
          <p:cNvSpPr>
            <a:spLocks noGrp="1"/>
          </p:cNvSpPr>
          <p:nvPr>
            <p:ph type="title"/>
          </p:nvPr>
        </p:nvSpPr>
        <p:spPr/>
        <p:txBody>
          <a:bodyPr/>
          <a:lstStyle/>
          <a:p>
            <a:r>
              <a:rPr lang="es-ES" dirty="0"/>
              <a:t>Posicionamiento relativo (</a:t>
            </a:r>
            <a:r>
              <a:rPr lang="es-ES" dirty="0" err="1">
                <a:latin typeface="Consolas" panose="020B0609020204030204" pitchFamily="49" charset="0"/>
              </a:rPr>
              <a:t>relative</a:t>
            </a:r>
            <a:r>
              <a:rPr lang="es-ES" dirty="0"/>
              <a:t>)</a:t>
            </a:r>
          </a:p>
        </p:txBody>
      </p:sp>
      <p:sp>
        <p:nvSpPr>
          <p:cNvPr id="3" name="Marcador de contenido 2">
            <a:extLst>
              <a:ext uri="{FF2B5EF4-FFF2-40B4-BE49-F238E27FC236}">
                <a16:creationId xmlns:a16="http://schemas.microsoft.com/office/drawing/2014/main" id="{3FDFA965-DF92-41D2-940C-C4C9DE29D061}"/>
              </a:ext>
            </a:extLst>
          </p:cNvPr>
          <p:cNvSpPr>
            <a:spLocks noGrp="1"/>
          </p:cNvSpPr>
          <p:nvPr>
            <p:ph idx="1"/>
          </p:nvPr>
        </p:nvSpPr>
        <p:spPr/>
        <p:txBody>
          <a:bodyPr>
            <a:normAutofit fontScale="92500" lnSpcReduction="20000"/>
          </a:bodyPr>
          <a:lstStyle/>
          <a:p>
            <a:r>
              <a:rPr lang="es-ES" dirty="0"/>
              <a:t>El posicionamiento relativo desplaza una caja respecto de su posición original establecida mediante el posicionamiento normal. El desplazamiento de la caja se controla con las propiedades </a:t>
            </a:r>
            <a:r>
              <a:rPr lang="es-ES" dirty="0">
                <a:latin typeface="Consolas" panose="020B0609020204030204" pitchFamily="49" charset="0"/>
              </a:rPr>
              <a:t>top</a:t>
            </a:r>
            <a:r>
              <a:rPr lang="es-ES" dirty="0"/>
              <a:t>, </a:t>
            </a:r>
            <a:r>
              <a:rPr lang="es-ES" dirty="0" err="1">
                <a:latin typeface="Consolas" panose="020B0609020204030204" pitchFamily="49" charset="0"/>
              </a:rPr>
              <a:t>right</a:t>
            </a:r>
            <a:r>
              <a:rPr lang="es-ES" dirty="0"/>
              <a:t>, </a:t>
            </a:r>
            <a:r>
              <a:rPr lang="es-ES" dirty="0" err="1">
                <a:latin typeface="Consolas" panose="020B0609020204030204" pitchFamily="49" charset="0"/>
              </a:rPr>
              <a:t>bottom</a:t>
            </a:r>
            <a:r>
              <a:rPr lang="es-ES" dirty="0"/>
              <a:t> y </a:t>
            </a:r>
            <a:r>
              <a:rPr lang="es-ES" dirty="0" err="1">
                <a:latin typeface="Consolas" panose="020B0609020204030204" pitchFamily="49" charset="0"/>
              </a:rPr>
              <a:t>left</a:t>
            </a:r>
            <a:endParaRPr lang="es-ES" dirty="0">
              <a:latin typeface="Consolas" panose="020B0609020204030204" pitchFamily="49" charset="0"/>
            </a:endParaRPr>
          </a:p>
          <a:p>
            <a:r>
              <a:rPr lang="es-ES" sz="2100" dirty="0"/>
              <a:t>El valor de la propiedad top se interpreta como el desplazamiento entre el borde superior de la caja en su posición final y el borde superior de la misma caja en su posición original</a:t>
            </a:r>
          </a:p>
          <a:p>
            <a:r>
              <a:rPr lang="es-ES" sz="2100" dirty="0"/>
              <a:t>De la misma forma, el valor de las propiedades </a:t>
            </a:r>
            <a:r>
              <a:rPr lang="es-ES" sz="2100" dirty="0" err="1"/>
              <a:t>left</a:t>
            </a:r>
            <a:r>
              <a:rPr lang="es-ES" sz="2100" dirty="0"/>
              <a:t>, </a:t>
            </a:r>
            <a:r>
              <a:rPr lang="es-ES" sz="2100" dirty="0" err="1"/>
              <a:t>right</a:t>
            </a:r>
            <a:r>
              <a:rPr lang="es-ES" sz="2100" dirty="0"/>
              <a:t> y </a:t>
            </a:r>
            <a:r>
              <a:rPr lang="es-ES" sz="2100" dirty="0" err="1"/>
              <a:t>bottom</a:t>
            </a:r>
            <a:r>
              <a:rPr lang="es-ES" sz="2100" dirty="0"/>
              <a:t> indica respectivamente el desplazamiento entre el borde izquierdo/derecho/inferior de la caja en su posición final y el borde izquierdo/derecho/inferior de la caja original</a:t>
            </a:r>
          </a:p>
        </p:txBody>
      </p:sp>
    </p:spTree>
    <p:extLst>
      <p:ext uri="{BB962C8B-B14F-4D97-AF65-F5344CB8AC3E}">
        <p14:creationId xmlns:p14="http://schemas.microsoft.com/office/powerpoint/2010/main" val="1641360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3EDD69-2C6E-4B93-A9D5-C4DAFF8F068B}"/>
              </a:ext>
            </a:extLst>
          </p:cNvPr>
          <p:cNvSpPr>
            <a:spLocks noGrp="1"/>
          </p:cNvSpPr>
          <p:nvPr>
            <p:ph type="title"/>
          </p:nvPr>
        </p:nvSpPr>
        <p:spPr/>
        <p:txBody>
          <a:bodyPr/>
          <a:lstStyle/>
          <a:p>
            <a:r>
              <a:rPr lang="es-ES" dirty="0"/>
              <a:t>Posicionamiento relativo (</a:t>
            </a:r>
            <a:r>
              <a:rPr lang="es-ES" dirty="0" err="1">
                <a:latin typeface="Consolas" panose="020B0609020204030204" pitchFamily="49" charset="0"/>
              </a:rPr>
              <a:t>relative</a:t>
            </a:r>
            <a:r>
              <a:rPr lang="es-ES" dirty="0"/>
              <a:t>)</a:t>
            </a:r>
          </a:p>
        </p:txBody>
      </p:sp>
      <p:sp>
        <p:nvSpPr>
          <p:cNvPr id="3" name="Marcador de contenido 2">
            <a:extLst>
              <a:ext uri="{FF2B5EF4-FFF2-40B4-BE49-F238E27FC236}">
                <a16:creationId xmlns:a16="http://schemas.microsoft.com/office/drawing/2014/main" id="{43BD160F-4454-4A2F-87BC-24D3F70B738B}"/>
              </a:ext>
            </a:extLst>
          </p:cNvPr>
          <p:cNvSpPr>
            <a:spLocks noGrp="1"/>
          </p:cNvSpPr>
          <p:nvPr>
            <p:ph idx="1"/>
          </p:nvPr>
        </p:nvSpPr>
        <p:spPr/>
        <p:txBody>
          <a:bodyPr>
            <a:normAutofit fontScale="92500" lnSpcReduction="20000"/>
          </a:bodyPr>
          <a:lstStyle/>
          <a:p>
            <a:r>
              <a:rPr lang="es-ES" dirty="0"/>
              <a:t>Por tanto, la propiedad </a:t>
            </a:r>
            <a:r>
              <a:rPr lang="es-ES" dirty="0">
                <a:latin typeface="Consolas" panose="020B0609020204030204" pitchFamily="49" charset="0"/>
              </a:rPr>
              <a:t>top</a:t>
            </a:r>
            <a:r>
              <a:rPr lang="es-ES" dirty="0"/>
              <a:t> se emplea para mover las cajas de forma descendente, la propiedad </a:t>
            </a:r>
            <a:r>
              <a:rPr lang="es-ES" dirty="0" err="1">
                <a:latin typeface="Consolas" panose="020B0609020204030204" pitchFamily="49" charset="0"/>
              </a:rPr>
              <a:t>bottom</a:t>
            </a:r>
            <a:r>
              <a:rPr lang="es-ES" dirty="0"/>
              <a:t> mueve las cajas de forma ascendente, la propiedad </a:t>
            </a:r>
            <a:r>
              <a:rPr lang="es-ES" dirty="0" err="1">
                <a:latin typeface="Consolas" panose="020B0609020204030204" pitchFamily="49" charset="0"/>
              </a:rPr>
              <a:t>left</a:t>
            </a:r>
            <a:r>
              <a:rPr lang="es-ES" dirty="0"/>
              <a:t> se utiliza para desplazar las cajas hacia la derecha y la propiedad </a:t>
            </a:r>
            <a:r>
              <a:rPr lang="es-ES" dirty="0" err="1">
                <a:latin typeface="Consolas" panose="020B0609020204030204" pitchFamily="49" charset="0"/>
              </a:rPr>
              <a:t>right</a:t>
            </a:r>
            <a:r>
              <a:rPr lang="es-ES" dirty="0"/>
              <a:t> mueve las cajas hacia la izquierda. Este comportamiento parece poco intuitivo y es causa de errores cuando se empiezan a diseñar páginas con CSS. Si se utilizan valores negativos en las propiedades </a:t>
            </a:r>
            <a:r>
              <a:rPr lang="es-ES" dirty="0">
                <a:latin typeface="Consolas" panose="020B0609020204030204" pitchFamily="49" charset="0"/>
              </a:rPr>
              <a:t>top</a:t>
            </a:r>
            <a:r>
              <a:rPr lang="es-ES" dirty="0"/>
              <a:t>, </a:t>
            </a:r>
            <a:r>
              <a:rPr lang="es-ES" dirty="0" err="1">
                <a:latin typeface="Consolas" panose="020B0609020204030204" pitchFamily="49" charset="0"/>
              </a:rPr>
              <a:t>right</a:t>
            </a:r>
            <a:r>
              <a:rPr lang="es-ES" dirty="0"/>
              <a:t>, </a:t>
            </a:r>
            <a:r>
              <a:rPr lang="es-ES" dirty="0" err="1">
                <a:latin typeface="Consolas" panose="020B0609020204030204" pitchFamily="49" charset="0"/>
              </a:rPr>
              <a:t>bottom</a:t>
            </a:r>
            <a:r>
              <a:rPr lang="es-ES" dirty="0"/>
              <a:t> y </a:t>
            </a:r>
            <a:r>
              <a:rPr lang="es-ES" dirty="0" err="1">
                <a:latin typeface="Consolas" panose="020B0609020204030204" pitchFamily="49" charset="0"/>
              </a:rPr>
              <a:t>left</a:t>
            </a:r>
            <a:r>
              <a:rPr lang="es-ES" dirty="0"/>
              <a:t>, su efecto es justamente el inverso</a:t>
            </a:r>
          </a:p>
          <a:p>
            <a:r>
              <a:rPr lang="es-ES" dirty="0"/>
              <a:t>El desplazamiento relativo de una caja no afecta al resto de cajas adyacentes, que se muestran en la misma posición que si la caja desplazada no se hubiera movido de su posición original</a:t>
            </a:r>
          </a:p>
        </p:txBody>
      </p:sp>
    </p:spTree>
    <p:extLst>
      <p:ext uri="{BB962C8B-B14F-4D97-AF65-F5344CB8AC3E}">
        <p14:creationId xmlns:p14="http://schemas.microsoft.com/office/powerpoint/2010/main" val="4172660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F1FA2E-BB9E-4312-9C23-FA128952F1AB}"/>
              </a:ext>
            </a:extLst>
          </p:cNvPr>
          <p:cNvSpPr>
            <a:spLocks noGrp="1"/>
          </p:cNvSpPr>
          <p:nvPr>
            <p:ph type="title"/>
          </p:nvPr>
        </p:nvSpPr>
        <p:spPr/>
        <p:txBody>
          <a:bodyPr/>
          <a:lstStyle/>
          <a:p>
            <a:r>
              <a:rPr lang="es-ES" dirty="0"/>
              <a:t>Posicionamiento relativo (</a:t>
            </a:r>
            <a:r>
              <a:rPr lang="es-ES" dirty="0" err="1">
                <a:latin typeface="Consolas" panose="020B0609020204030204" pitchFamily="49" charset="0"/>
              </a:rPr>
              <a:t>relative</a:t>
            </a:r>
            <a:r>
              <a:rPr lang="es-ES" dirty="0"/>
              <a:t>)</a:t>
            </a:r>
          </a:p>
        </p:txBody>
      </p:sp>
      <p:pic>
        <p:nvPicPr>
          <p:cNvPr id="4" name="Marcador de contenido 3">
            <a:extLst>
              <a:ext uri="{FF2B5EF4-FFF2-40B4-BE49-F238E27FC236}">
                <a16:creationId xmlns:a16="http://schemas.microsoft.com/office/drawing/2014/main" id="{D3B65EC7-29B2-4462-B70E-7F095AD37F83}"/>
              </a:ext>
            </a:extLst>
          </p:cNvPr>
          <p:cNvPicPr>
            <a:picLocks noGrp="1" noChangeAspect="1"/>
          </p:cNvPicPr>
          <p:nvPr>
            <p:ph idx="1"/>
          </p:nvPr>
        </p:nvPicPr>
        <p:blipFill>
          <a:blip r:embed="rId2"/>
          <a:stretch>
            <a:fillRect/>
          </a:stretch>
        </p:blipFill>
        <p:spPr>
          <a:xfrm>
            <a:off x="2893219" y="2751931"/>
            <a:ext cx="6076950" cy="21336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0013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F16991-4731-4205-AD03-FAE7738B855D}"/>
              </a:ext>
            </a:extLst>
          </p:cNvPr>
          <p:cNvSpPr>
            <a:spLocks noGrp="1"/>
          </p:cNvSpPr>
          <p:nvPr>
            <p:ph type="title"/>
          </p:nvPr>
        </p:nvSpPr>
        <p:spPr/>
        <p:txBody>
          <a:bodyPr/>
          <a:lstStyle/>
          <a:p>
            <a:r>
              <a:rPr lang="es-ES" dirty="0"/>
              <a:t>Posicionamiento relativo (</a:t>
            </a:r>
            <a:r>
              <a:rPr lang="es-ES" dirty="0" err="1">
                <a:latin typeface="Consolas" panose="020B0609020204030204" pitchFamily="49" charset="0"/>
              </a:rPr>
              <a:t>relative</a:t>
            </a:r>
            <a:r>
              <a:rPr lang="es-ES" dirty="0"/>
              <a:t>)</a:t>
            </a:r>
          </a:p>
        </p:txBody>
      </p:sp>
      <p:pic>
        <p:nvPicPr>
          <p:cNvPr id="7" name="Marcador de contenido 6">
            <a:extLst>
              <a:ext uri="{FF2B5EF4-FFF2-40B4-BE49-F238E27FC236}">
                <a16:creationId xmlns:a16="http://schemas.microsoft.com/office/drawing/2014/main" id="{79C9A170-E934-45F2-BF7F-853963A64557}"/>
              </a:ext>
            </a:extLst>
          </p:cNvPr>
          <p:cNvPicPr>
            <a:picLocks noGrp="1" noChangeAspect="1"/>
          </p:cNvPicPr>
          <p:nvPr>
            <p:ph idx="1"/>
          </p:nvPr>
        </p:nvPicPr>
        <p:blipFill>
          <a:blip r:embed="rId2"/>
          <a:stretch>
            <a:fillRect/>
          </a:stretch>
        </p:blipFill>
        <p:spPr>
          <a:xfrm>
            <a:off x="2958490" y="2002559"/>
            <a:ext cx="5946834" cy="389029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69715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DB9A25-98BB-49F9-B499-20A8E257F1BA}"/>
              </a:ext>
            </a:extLst>
          </p:cNvPr>
          <p:cNvSpPr>
            <a:spLocks noGrp="1"/>
          </p:cNvSpPr>
          <p:nvPr>
            <p:ph type="title"/>
          </p:nvPr>
        </p:nvSpPr>
        <p:spPr/>
        <p:txBody>
          <a:bodyPr/>
          <a:lstStyle/>
          <a:p>
            <a:r>
              <a:rPr lang="es-ES" dirty="0"/>
              <a:t>Posicionamiento absoluto (</a:t>
            </a:r>
            <a:r>
              <a:rPr lang="es-ES" dirty="0" err="1">
                <a:latin typeface="Consolas" panose="020B0609020204030204" pitchFamily="49" charset="0"/>
              </a:rPr>
              <a:t>absolute</a:t>
            </a:r>
            <a:r>
              <a:rPr lang="es-ES" dirty="0"/>
              <a:t>)</a:t>
            </a:r>
          </a:p>
        </p:txBody>
      </p:sp>
      <p:sp>
        <p:nvSpPr>
          <p:cNvPr id="3" name="Marcador de contenido 2">
            <a:extLst>
              <a:ext uri="{FF2B5EF4-FFF2-40B4-BE49-F238E27FC236}">
                <a16:creationId xmlns:a16="http://schemas.microsoft.com/office/drawing/2014/main" id="{D6B37230-AFED-4A3B-BCD1-65853E06B230}"/>
              </a:ext>
            </a:extLst>
          </p:cNvPr>
          <p:cNvSpPr>
            <a:spLocks noGrp="1"/>
          </p:cNvSpPr>
          <p:nvPr>
            <p:ph idx="1"/>
          </p:nvPr>
        </p:nvSpPr>
        <p:spPr/>
        <p:txBody>
          <a:bodyPr>
            <a:normAutofit fontScale="92500" lnSpcReduction="20000"/>
          </a:bodyPr>
          <a:lstStyle/>
          <a:p>
            <a:r>
              <a:rPr lang="es-ES" dirty="0"/>
              <a:t>El posicionamiento absoluto se emplea para establecer de forma exacta la posición en la que se muestra la caja de un elemento. La nueva posición de la caja se indica mediante las propiedades </a:t>
            </a:r>
            <a:r>
              <a:rPr lang="es-ES" dirty="0">
                <a:latin typeface="Consolas" panose="020B0609020204030204" pitchFamily="49" charset="0"/>
              </a:rPr>
              <a:t>top</a:t>
            </a:r>
            <a:r>
              <a:rPr lang="es-ES" dirty="0"/>
              <a:t>, </a:t>
            </a:r>
            <a:r>
              <a:rPr lang="es-ES" dirty="0" err="1">
                <a:latin typeface="Consolas" panose="020B0609020204030204" pitchFamily="49" charset="0"/>
              </a:rPr>
              <a:t>right</a:t>
            </a:r>
            <a:r>
              <a:rPr lang="es-ES" dirty="0"/>
              <a:t>, </a:t>
            </a:r>
            <a:r>
              <a:rPr lang="es-ES" dirty="0" err="1">
                <a:latin typeface="Consolas" panose="020B0609020204030204" pitchFamily="49" charset="0"/>
              </a:rPr>
              <a:t>bottom</a:t>
            </a:r>
            <a:r>
              <a:rPr lang="es-ES" dirty="0"/>
              <a:t> y </a:t>
            </a:r>
            <a:r>
              <a:rPr lang="es-ES" dirty="0" err="1">
                <a:latin typeface="Consolas" panose="020B0609020204030204" pitchFamily="49" charset="0"/>
              </a:rPr>
              <a:t>left</a:t>
            </a:r>
            <a:r>
              <a:rPr lang="es-ES" dirty="0"/>
              <a:t>. La interpretación de los valores de estas propiedades es mucho más compleja que en el posicionamiento relativo, ya que en este caso dependen del posicionamiento del elemento contenedor</a:t>
            </a:r>
          </a:p>
          <a:p>
            <a:r>
              <a:rPr lang="es-ES" dirty="0"/>
              <a:t>Cuando una caja se posiciona de forma absoluta, el resto de elementos de la página se ven afectados y modifican su posición. Al igual que en el posicionamiento relativo, cuando se posiciona de forma absoluta una caja es probable que se produzcan solapamientos con otras cajas</a:t>
            </a:r>
          </a:p>
        </p:txBody>
      </p:sp>
    </p:spTree>
    <p:extLst>
      <p:ext uri="{BB962C8B-B14F-4D97-AF65-F5344CB8AC3E}">
        <p14:creationId xmlns:p14="http://schemas.microsoft.com/office/powerpoint/2010/main" val="3900419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F79987-7A21-47D0-B0CE-667080685014}"/>
              </a:ext>
            </a:extLst>
          </p:cNvPr>
          <p:cNvSpPr>
            <a:spLocks noGrp="1"/>
          </p:cNvSpPr>
          <p:nvPr>
            <p:ph type="title"/>
          </p:nvPr>
        </p:nvSpPr>
        <p:spPr/>
        <p:txBody>
          <a:bodyPr/>
          <a:lstStyle/>
          <a:p>
            <a:r>
              <a:rPr lang="es-ES" dirty="0"/>
              <a:t>Posicionamiento absoluto (</a:t>
            </a:r>
            <a:r>
              <a:rPr lang="es-ES" dirty="0" err="1">
                <a:latin typeface="Consolas" panose="020B0609020204030204" pitchFamily="49" charset="0"/>
              </a:rPr>
              <a:t>absolute</a:t>
            </a:r>
            <a:r>
              <a:rPr lang="es-ES" dirty="0"/>
              <a:t>)</a:t>
            </a:r>
          </a:p>
        </p:txBody>
      </p:sp>
      <p:pic>
        <p:nvPicPr>
          <p:cNvPr id="4" name="Marcador de contenido 3">
            <a:extLst>
              <a:ext uri="{FF2B5EF4-FFF2-40B4-BE49-F238E27FC236}">
                <a16:creationId xmlns:a16="http://schemas.microsoft.com/office/drawing/2014/main" id="{FAE2E255-877E-4D21-9041-3D92B436F176}"/>
              </a:ext>
            </a:extLst>
          </p:cNvPr>
          <p:cNvPicPr>
            <a:picLocks noGrp="1" noChangeAspect="1"/>
          </p:cNvPicPr>
          <p:nvPr>
            <p:ph idx="1"/>
          </p:nvPr>
        </p:nvPicPr>
        <p:blipFill>
          <a:blip r:embed="rId2"/>
          <a:stretch>
            <a:fillRect/>
          </a:stretch>
        </p:blipFill>
        <p:spPr>
          <a:xfrm>
            <a:off x="2840831" y="2770981"/>
            <a:ext cx="6181725" cy="2095500"/>
          </a:xfrm>
          <a:prstGeom prst="rect">
            <a:avLst/>
          </a:prstGeom>
        </p:spPr>
      </p:pic>
    </p:spTree>
    <p:extLst>
      <p:ext uri="{BB962C8B-B14F-4D97-AF65-F5344CB8AC3E}">
        <p14:creationId xmlns:p14="http://schemas.microsoft.com/office/powerpoint/2010/main" val="3473738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156AF7-DDB2-44F4-8F22-B352A657AF47}"/>
              </a:ext>
            </a:extLst>
          </p:cNvPr>
          <p:cNvSpPr>
            <a:spLocks noGrp="1"/>
          </p:cNvSpPr>
          <p:nvPr>
            <p:ph type="title"/>
          </p:nvPr>
        </p:nvSpPr>
        <p:spPr/>
        <p:txBody>
          <a:bodyPr/>
          <a:lstStyle/>
          <a:p>
            <a:r>
              <a:rPr lang="es-ES" dirty="0"/>
              <a:t>Posicionamiento absoluto (</a:t>
            </a:r>
            <a:r>
              <a:rPr lang="es-ES" dirty="0" err="1">
                <a:latin typeface="Consolas" panose="020B0609020204030204" pitchFamily="49" charset="0"/>
              </a:rPr>
              <a:t>absolute</a:t>
            </a:r>
            <a:r>
              <a:rPr lang="es-ES" dirty="0"/>
              <a:t>)</a:t>
            </a:r>
          </a:p>
        </p:txBody>
      </p:sp>
      <p:pic>
        <p:nvPicPr>
          <p:cNvPr id="10" name="Marcador de contenido 9">
            <a:extLst>
              <a:ext uri="{FF2B5EF4-FFF2-40B4-BE49-F238E27FC236}">
                <a16:creationId xmlns:a16="http://schemas.microsoft.com/office/drawing/2014/main" id="{52529D63-58B1-4127-89F1-1126C1FA0C07}"/>
              </a:ext>
            </a:extLst>
          </p:cNvPr>
          <p:cNvPicPr>
            <a:picLocks noGrp="1" noChangeAspect="1"/>
          </p:cNvPicPr>
          <p:nvPr>
            <p:ph idx="1"/>
          </p:nvPr>
        </p:nvPicPr>
        <p:blipFill>
          <a:blip r:embed="rId2"/>
          <a:stretch>
            <a:fillRect/>
          </a:stretch>
        </p:blipFill>
        <p:spPr>
          <a:xfrm>
            <a:off x="3048000" y="2002559"/>
            <a:ext cx="5370923" cy="40833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58577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E0737B-D70B-4A66-8AB7-505661E4E8CB}"/>
              </a:ext>
            </a:extLst>
          </p:cNvPr>
          <p:cNvSpPr>
            <a:spLocks noGrp="1"/>
          </p:cNvSpPr>
          <p:nvPr>
            <p:ph type="title"/>
          </p:nvPr>
        </p:nvSpPr>
        <p:spPr/>
        <p:txBody>
          <a:bodyPr/>
          <a:lstStyle/>
          <a:p>
            <a:r>
              <a:rPr lang="es-ES" dirty="0"/>
              <a:t>Posicionamiento fijo (</a:t>
            </a:r>
            <a:r>
              <a:rPr lang="es-ES" dirty="0" err="1">
                <a:latin typeface="Consolas" panose="020B0609020204030204" pitchFamily="49" charset="0"/>
              </a:rPr>
              <a:t>fixed</a:t>
            </a:r>
            <a:r>
              <a:rPr lang="es-ES" dirty="0"/>
              <a:t>)</a:t>
            </a:r>
          </a:p>
        </p:txBody>
      </p:sp>
      <p:sp>
        <p:nvSpPr>
          <p:cNvPr id="3" name="Marcador de contenido 2">
            <a:extLst>
              <a:ext uri="{FF2B5EF4-FFF2-40B4-BE49-F238E27FC236}">
                <a16:creationId xmlns:a16="http://schemas.microsoft.com/office/drawing/2014/main" id="{DAA0A6B7-DB90-4962-80AB-58C96A8CBC40}"/>
              </a:ext>
            </a:extLst>
          </p:cNvPr>
          <p:cNvSpPr>
            <a:spLocks noGrp="1"/>
          </p:cNvSpPr>
          <p:nvPr>
            <p:ph idx="1"/>
          </p:nvPr>
        </p:nvSpPr>
        <p:spPr/>
        <p:txBody>
          <a:bodyPr/>
          <a:lstStyle/>
          <a:p>
            <a:r>
              <a:rPr lang="es-ES" dirty="0"/>
              <a:t>La principal característica de una caja posicionada de forma fija es que su posición es inamovible dentro de la ventana del navegador. El posicionamiento fijo hace que las cajas no modifiquen su posición ni aunque el usuario suba o baje la página en la ventana de su navegador</a:t>
            </a:r>
          </a:p>
          <a:p>
            <a:r>
              <a:rPr lang="es-ES" dirty="0"/>
              <a:t>La interpretación de los valores de las propiedades top, </a:t>
            </a:r>
            <a:r>
              <a:rPr lang="es-ES" dirty="0" err="1"/>
              <a:t>right</a:t>
            </a:r>
            <a:r>
              <a:rPr lang="es-ES" dirty="0"/>
              <a:t>, </a:t>
            </a:r>
            <a:r>
              <a:rPr lang="es-ES" dirty="0" err="1"/>
              <a:t>bottom</a:t>
            </a:r>
            <a:r>
              <a:rPr lang="es-ES" dirty="0"/>
              <a:t> y </a:t>
            </a:r>
            <a:r>
              <a:rPr lang="es-ES" dirty="0" err="1"/>
              <a:t>left</a:t>
            </a:r>
            <a:r>
              <a:rPr lang="es-ES" dirty="0"/>
              <a:t> toma como referencia los marcos de la ventana del navegador, dando el resultado de que la caja posicionada permanece inmóvil aunque el usuario se desplace por el contenido de la página</a:t>
            </a:r>
          </a:p>
        </p:txBody>
      </p:sp>
    </p:spTree>
    <p:extLst>
      <p:ext uri="{BB962C8B-B14F-4D97-AF65-F5344CB8AC3E}">
        <p14:creationId xmlns:p14="http://schemas.microsoft.com/office/powerpoint/2010/main" val="2411088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2626E-4DC6-4CED-AA37-39EF5C1BF2FA}"/>
              </a:ext>
            </a:extLst>
          </p:cNvPr>
          <p:cNvSpPr>
            <a:spLocks noGrp="1"/>
          </p:cNvSpPr>
          <p:nvPr>
            <p:ph type="title"/>
          </p:nvPr>
        </p:nvSpPr>
        <p:spPr/>
        <p:txBody>
          <a:bodyPr/>
          <a:lstStyle/>
          <a:p>
            <a:r>
              <a:rPr lang="es-ES" dirty="0"/>
              <a:t>Posicionamiento fijo (</a:t>
            </a:r>
            <a:r>
              <a:rPr lang="es-ES" dirty="0" err="1">
                <a:latin typeface="Consolas" panose="020B0609020204030204" pitchFamily="49" charset="0"/>
              </a:rPr>
              <a:t>fixed</a:t>
            </a:r>
            <a:r>
              <a:rPr lang="es-ES" dirty="0"/>
              <a:t>)</a:t>
            </a:r>
          </a:p>
        </p:txBody>
      </p:sp>
      <p:pic>
        <p:nvPicPr>
          <p:cNvPr id="4" name="Marcador de contenido 3">
            <a:extLst>
              <a:ext uri="{FF2B5EF4-FFF2-40B4-BE49-F238E27FC236}">
                <a16:creationId xmlns:a16="http://schemas.microsoft.com/office/drawing/2014/main" id="{C04FB964-2AA5-4596-98E5-D5755B10209A}"/>
              </a:ext>
            </a:extLst>
          </p:cNvPr>
          <p:cNvPicPr>
            <a:picLocks noGrp="1" noChangeAspect="1"/>
          </p:cNvPicPr>
          <p:nvPr>
            <p:ph idx="1"/>
          </p:nvPr>
        </p:nvPicPr>
        <p:blipFill>
          <a:blip r:embed="rId2"/>
          <a:stretch>
            <a:fillRect/>
          </a:stretch>
        </p:blipFill>
        <p:spPr>
          <a:xfrm>
            <a:off x="2751992" y="1763215"/>
            <a:ext cx="5952393" cy="41171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25873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82173D-EE3F-42A2-9C19-A836CF516811}"/>
              </a:ext>
            </a:extLst>
          </p:cNvPr>
          <p:cNvSpPr>
            <a:spLocks noGrp="1"/>
          </p:cNvSpPr>
          <p:nvPr>
            <p:ph type="title"/>
          </p:nvPr>
        </p:nvSpPr>
        <p:spPr/>
        <p:txBody>
          <a:bodyPr/>
          <a:lstStyle/>
          <a:p>
            <a:r>
              <a:rPr lang="es-ES" dirty="0"/>
              <a:t>Posicionamiento flotante (</a:t>
            </a:r>
            <a:r>
              <a:rPr lang="es-ES" dirty="0" err="1">
                <a:latin typeface="Consolas" panose="020B0609020204030204" pitchFamily="49" charset="0"/>
              </a:rPr>
              <a:t>float</a:t>
            </a:r>
            <a:r>
              <a:rPr lang="es-ES" dirty="0"/>
              <a:t>)</a:t>
            </a:r>
          </a:p>
        </p:txBody>
      </p:sp>
      <p:sp>
        <p:nvSpPr>
          <p:cNvPr id="3" name="Marcador de contenido 2">
            <a:extLst>
              <a:ext uri="{FF2B5EF4-FFF2-40B4-BE49-F238E27FC236}">
                <a16:creationId xmlns:a16="http://schemas.microsoft.com/office/drawing/2014/main" id="{A5075C9A-0883-43D4-8A4A-FEE08BCB1865}"/>
              </a:ext>
            </a:extLst>
          </p:cNvPr>
          <p:cNvSpPr>
            <a:spLocks noGrp="1"/>
          </p:cNvSpPr>
          <p:nvPr>
            <p:ph idx="1"/>
          </p:nvPr>
        </p:nvSpPr>
        <p:spPr/>
        <p:txBody>
          <a:bodyPr/>
          <a:lstStyle/>
          <a:p>
            <a:r>
              <a:rPr lang="es-ES" dirty="0"/>
              <a:t>Se controla con la propiedad </a:t>
            </a:r>
            <a:r>
              <a:rPr lang="es-ES" dirty="0" err="1">
                <a:latin typeface="Consolas" panose="020B0609020204030204" pitchFamily="49" charset="0"/>
              </a:rPr>
              <a:t>float</a:t>
            </a:r>
            <a:r>
              <a:rPr lang="es-ES" dirty="0"/>
              <a:t> y puede tomar los valores </a:t>
            </a:r>
            <a:r>
              <a:rPr lang="es-ES" dirty="0" err="1">
                <a:latin typeface="Consolas" panose="020B0609020204030204" pitchFamily="49" charset="0"/>
              </a:rPr>
              <a:t>left</a:t>
            </a:r>
            <a:r>
              <a:rPr lang="es-ES" dirty="0"/>
              <a:t> o </a:t>
            </a:r>
            <a:r>
              <a:rPr lang="es-ES" dirty="0" err="1">
                <a:latin typeface="Consolas" panose="020B0609020204030204" pitchFamily="49" charset="0"/>
              </a:rPr>
              <a:t>right</a:t>
            </a:r>
            <a:endParaRPr lang="es-ES" dirty="0">
              <a:latin typeface="Consolas" panose="020B0609020204030204" pitchFamily="49" charset="0"/>
            </a:endParaRPr>
          </a:p>
          <a:p>
            <a:r>
              <a:rPr lang="es-ES" dirty="0"/>
              <a:t>Cuando se coloca una caja de forma flotante deja de pertenecer al flujo normal de la página, lo que significa que el resto de cajas ocupan el lugar que deja la caja flotante.</a:t>
            </a:r>
          </a:p>
          <a:p>
            <a:r>
              <a:rPr lang="es-ES" dirty="0"/>
              <a:t>La caja flotante se coloca lo más pegada posible a la izquierda o a la derecha desde la posición donde se encontraba originalmente</a:t>
            </a:r>
          </a:p>
        </p:txBody>
      </p:sp>
    </p:spTree>
    <p:extLst>
      <p:ext uri="{BB962C8B-B14F-4D97-AF65-F5344CB8AC3E}">
        <p14:creationId xmlns:p14="http://schemas.microsoft.com/office/powerpoint/2010/main" val="1536865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994E4B-962C-43FE-A3CD-62170F6F6441}"/>
              </a:ext>
            </a:extLst>
          </p:cNvPr>
          <p:cNvSpPr>
            <a:spLocks noGrp="1"/>
          </p:cNvSpPr>
          <p:nvPr>
            <p:ph type="title"/>
          </p:nvPr>
        </p:nvSpPr>
        <p:spPr/>
        <p:txBody>
          <a:bodyPr/>
          <a:lstStyle/>
          <a:p>
            <a:r>
              <a:rPr lang="es-ES" dirty="0"/>
              <a:t>Posicionamiento flotante (</a:t>
            </a:r>
            <a:r>
              <a:rPr lang="es-ES" dirty="0" err="1">
                <a:latin typeface="Consolas" panose="020B0609020204030204" pitchFamily="49" charset="0"/>
              </a:rPr>
              <a:t>float</a:t>
            </a:r>
            <a:r>
              <a:rPr lang="es-ES" dirty="0"/>
              <a:t>)</a:t>
            </a:r>
          </a:p>
        </p:txBody>
      </p:sp>
      <p:sp>
        <p:nvSpPr>
          <p:cNvPr id="7" name="Marcador de contenido 6">
            <a:extLst>
              <a:ext uri="{FF2B5EF4-FFF2-40B4-BE49-F238E27FC236}">
                <a16:creationId xmlns:a16="http://schemas.microsoft.com/office/drawing/2014/main" id="{DC7ABE3A-AFDF-4991-B966-2552B8EF02B4}"/>
              </a:ext>
            </a:extLst>
          </p:cNvPr>
          <p:cNvSpPr>
            <a:spLocks noGrp="1"/>
          </p:cNvSpPr>
          <p:nvPr>
            <p:ph idx="1"/>
          </p:nvPr>
        </p:nvSpPr>
        <p:spPr>
          <a:xfrm>
            <a:off x="1130269" y="4855442"/>
            <a:ext cx="9603275" cy="2143557"/>
          </a:xfrm>
        </p:spPr>
        <p:txBody>
          <a:bodyPr/>
          <a:lstStyle/>
          <a:p>
            <a:r>
              <a:rPr lang="es-ES" dirty="0"/>
              <a:t>El diseño de las páginas con posicionamiento flotante resulta complejo, ya que si algún elemento no tiene definido su tipo de posicionamiento de forma correcta pueden existir solapamientos no deseados</a:t>
            </a:r>
          </a:p>
        </p:txBody>
      </p:sp>
      <p:pic>
        <p:nvPicPr>
          <p:cNvPr id="8" name="Imagen 7">
            <a:extLst>
              <a:ext uri="{FF2B5EF4-FFF2-40B4-BE49-F238E27FC236}">
                <a16:creationId xmlns:a16="http://schemas.microsoft.com/office/drawing/2014/main" id="{FB6700B5-DDA0-40F9-83CE-97D2BD8C957C}"/>
              </a:ext>
            </a:extLst>
          </p:cNvPr>
          <p:cNvPicPr>
            <a:picLocks noChangeAspect="1"/>
          </p:cNvPicPr>
          <p:nvPr/>
        </p:nvPicPr>
        <p:blipFill>
          <a:blip r:embed="rId2"/>
          <a:stretch>
            <a:fillRect/>
          </a:stretch>
        </p:blipFill>
        <p:spPr>
          <a:xfrm>
            <a:off x="1426371" y="1617549"/>
            <a:ext cx="2981325" cy="3133725"/>
          </a:xfrm>
          <a:prstGeom prst="rect">
            <a:avLst/>
          </a:prstGeom>
        </p:spPr>
      </p:pic>
      <p:pic>
        <p:nvPicPr>
          <p:cNvPr id="9" name="Imagen 8">
            <a:extLst>
              <a:ext uri="{FF2B5EF4-FFF2-40B4-BE49-F238E27FC236}">
                <a16:creationId xmlns:a16="http://schemas.microsoft.com/office/drawing/2014/main" id="{03867315-CB12-45EE-9544-B4BEC4EFA31C}"/>
              </a:ext>
            </a:extLst>
          </p:cNvPr>
          <p:cNvPicPr>
            <a:picLocks noChangeAspect="1"/>
          </p:cNvPicPr>
          <p:nvPr/>
        </p:nvPicPr>
        <p:blipFill>
          <a:blip r:embed="rId3"/>
          <a:stretch>
            <a:fillRect/>
          </a:stretch>
        </p:blipFill>
        <p:spPr>
          <a:xfrm>
            <a:off x="4595812" y="1636599"/>
            <a:ext cx="3000375" cy="3143250"/>
          </a:xfrm>
          <a:prstGeom prst="rect">
            <a:avLst/>
          </a:prstGeom>
        </p:spPr>
      </p:pic>
      <p:pic>
        <p:nvPicPr>
          <p:cNvPr id="10" name="Imagen 9">
            <a:extLst>
              <a:ext uri="{FF2B5EF4-FFF2-40B4-BE49-F238E27FC236}">
                <a16:creationId xmlns:a16="http://schemas.microsoft.com/office/drawing/2014/main" id="{E06335B8-4E7A-4756-8056-0DA12BDF4384}"/>
              </a:ext>
            </a:extLst>
          </p:cNvPr>
          <p:cNvPicPr>
            <a:picLocks noChangeAspect="1"/>
          </p:cNvPicPr>
          <p:nvPr/>
        </p:nvPicPr>
        <p:blipFill>
          <a:blip r:embed="rId4"/>
          <a:stretch>
            <a:fillRect/>
          </a:stretch>
        </p:blipFill>
        <p:spPr>
          <a:xfrm>
            <a:off x="7873238" y="1617549"/>
            <a:ext cx="2914650" cy="3143250"/>
          </a:xfrm>
          <a:prstGeom prst="rect">
            <a:avLst/>
          </a:prstGeom>
        </p:spPr>
      </p:pic>
    </p:spTree>
    <p:extLst>
      <p:ext uri="{BB962C8B-B14F-4D97-AF65-F5344CB8AC3E}">
        <p14:creationId xmlns:p14="http://schemas.microsoft.com/office/powerpoint/2010/main" val="1043356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31B182-C8AA-4726-BD3F-11CE0A00C2FA}"/>
              </a:ext>
            </a:extLst>
          </p:cNvPr>
          <p:cNvSpPr>
            <a:spLocks noGrp="1"/>
          </p:cNvSpPr>
          <p:nvPr>
            <p:ph type="title"/>
          </p:nvPr>
        </p:nvSpPr>
        <p:spPr/>
        <p:txBody>
          <a:bodyPr/>
          <a:lstStyle/>
          <a:p>
            <a:r>
              <a:rPr lang="es-ES" dirty="0"/>
              <a:t>Posicionamiento flotante (</a:t>
            </a:r>
            <a:r>
              <a:rPr lang="es-ES" dirty="0" err="1">
                <a:latin typeface="Consolas" panose="020B0609020204030204" pitchFamily="49" charset="0"/>
              </a:rPr>
              <a:t>float</a:t>
            </a:r>
            <a:r>
              <a:rPr lang="es-ES" dirty="0"/>
              <a:t>)</a:t>
            </a:r>
          </a:p>
        </p:txBody>
      </p:sp>
      <p:pic>
        <p:nvPicPr>
          <p:cNvPr id="4" name="Marcador de contenido 3">
            <a:extLst>
              <a:ext uri="{FF2B5EF4-FFF2-40B4-BE49-F238E27FC236}">
                <a16:creationId xmlns:a16="http://schemas.microsoft.com/office/drawing/2014/main" id="{E5CAA9D2-A270-4FA6-A443-FA24E5759D0C}"/>
              </a:ext>
            </a:extLst>
          </p:cNvPr>
          <p:cNvPicPr>
            <a:picLocks noGrp="1" noChangeAspect="1"/>
          </p:cNvPicPr>
          <p:nvPr>
            <p:ph idx="1"/>
          </p:nvPr>
        </p:nvPicPr>
        <p:blipFill>
          <a:blip r:embed="rId2"/>
          <a:stretch>
            <a:fillRect/>
          </a:stretch>
        </p:blipFill>
        <p:spPr>
          <a:xfrm>
            <a:off x="1839088" y="1668380"/>
            <a:ext cx="8062627" cy="423629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51183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3F6CE2-3F64-44B1-BC8F-0B128384C01D}"/>
              </a:ext>
            </a:extLst>
          </p:cNvPr>
          <p:cNvSpPr>
            <a:spLocks noGrp="1"/>
          </p:cNvSpPr>
          <p:nvPr>
            <p:ph type="title"/>
          </p:nvPr>
        </p:nvSpPr>
        <p:spPr/>
        <p:txBody>
          <a:bodyPr/>
          <a:lstStyle/>
          <a:p>
            <a:r>
              <a:rPr lang="es-ES" dirty="0"/>
              <a:t>Posicionamiento flotante (</a:t>
            </a:r>
            <a:r>
              <a:rPr lang="es-ES" dirty="0" err="1">
                <a:latin typeface="Consolas" panose="020B0609020204030204" pitchFamily="49" charset="0"/>
              </a:rPr>
              <a:t>float</a:t>
            </a:r>
            <a:r>
              <a:rPr lang="es-ES" dirty="0"/>
              <a:t>)</a:t>
            </a:r>
          </a:p>
        </p:txBody>
      </p:sp>
      <p:sp>
        <p:nvSpPr>
          <p:cNvPr id="3" name="Marcador de contenido 2">
            <a:extLst>
              <a:ext uri="{FF2B5EF4-FFF2-40B4-BE49-F238E27FC236}">
                <a16:creationId xmlns:a16="http://schemas.microsoft.com/office/drawing/2014/main" id="{81337C7C-1A0D-4BD3-AA46-131E9D8ECEBE}"/>
              </a:ext>
            </a:extLst>
          </p:cNvPr>
          <p:cNvSpPr>
            <a:spLocks noGrp="1"/>
          </p:cNvSpPr>
          <p:nvPr>
            <p:ph idx="1"/>
          </p:nvPr>
        </p:nvSpPr>
        <p:spPr/>
        <p:txBody>
          <a:bodyPr>
            <a:normAutofit/>
          </a:bodyPr>
          <a:lstStyle/>
          <a:p>
            <a:r>
              <a:rPr lang="es-ES" dirty="0"/>
              <a:t>Uno de los principales motivos para la creación del posicionamiento </a:t>
            </a:r>
            <a:r>
              <a:rPr lang="es-ES" dirty="0" err="1">
                <a:latin typeface="Consolas" panose="020B0609020204030204" pitchFamily="49" charset="0"/>
              </a:rPr>
              <a:t>float</a:t>
            </a:r>
            <a:r>
              <a:rPr lang="es-ES" dirty="0"/>
              <a:t> fue precisamente la posibilidad de colocar imágenes alrededor de las cuales fluye el texto.</a:t>
            </a:r>
          </a:p>
          <a:p>
            <a:r>
              <a:rPr lang="es-ES" dirty="0"/>
              <a:t>CSS permite controlar la forma en la que los contenidos fluyen alrededor de los contenidos posicionados mediante </a:t>
            </a:r>
            <a:r>
              <a:rPr lang="es-ES" dirty="0" err="1">
                <a:latin typeface="Consolas" panose="020B0609020204030204" pitchFamily="49" charset="0"/>
              </a:rPr>
              <a:t>float</a:t>
            </a:r>
            <a:r>
              <a:rPr lang="es-ES" dirty="0"/>
              <a:t>. De hecho, en muchas ocasiones es admisible que algunos contenidos fluyan alrededor de una imagen, pero el resto de contenidos deben mostrarse en su totalidad sin fluir alrededor de la imagen:</a:t>
            </a:r>
          </a:p>
        </p:txBody>
      </p:sp>
    </p:spTree>
    <p:extLst>
      <p:ext uri="{BB962C8B-B14F-4D97-AF65-F5344CB8AC3E}">
        <p14:creationId xmlns:p14="http://schemas.microsoft.com/office/powerpoint/2010/main" val="1658018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4075FF-1976-40F6-AFC3-92FF798E42A5}"/>
              </a:ext>
            </a:extLst>
          </p:cNvPr>
          <p:cNvSpPr>
            <a:spLocks noGrp="1"/>
          </p:cNvSpPr>
          <p:nvPr>
            <p:ph type="title"/>
          </p:nvPr>
        </p:nvSpPr>
        <p:spPr/>
        <p:txBody>
          <a:bodyPr/>
          <a:lstStyle/>
          <a:p>
            <a:r>
              <a:rPr lang="es-ES" dirty="0"/>
              <a:t>Posicionamiento flotante (</a:t>
            </a:r>
            <a:r>
              <a:rPr lang="es-ES" dirty="0" err="1">
                <a:latin typeface="Consolas" panose="020B0609020204030204" pitchFamily="49" charset="0"/>
              </a:rPr>
              <a:t>float</a:t>
            </a:r>
            <a:r>
              <a:rPr lang="es-ES" dirty="0"/>
              <a:t>)</a:t>
            </a:r>
          </a:p>
        </p:txBody>
      </p:sp>
      <p:pic>
        <p:nvPicPr>
          <p:cNvPr id="4" name="Marcador de contenido 3">
            <a:extLst>
              <a:ext uri="{FF2B5EF4-FFF2-40B4-BE49-F238E27FC236}">
                <a16:creationId xmlns:a16="http://schemas.microsoft.com/office/drawing/2014/main" id="{17287291-48F6-450D-B44B-9008DA00FFA6}"/>
              </a:ext>
            </a:extLst>
          </p:cNvPr>
          <p:cNvPicPr>
            <a:picLocks noGrp="1" noChangeAspect="1"/>
          </p:cNvPicPr>
          <p:nvPr>
            <p:ph idx="1"/>
          </p:nvPr>
        </p:nvPicPr>
        <p:blipFill>
          <a:blip r:embed="rId2"/>
          <a:stretch>
            <a:fillRect/>
          </a:stretch>
        </p:blipFill>
        <p:spPr>
          <a:xfrm>
            <a:off x="1458455" y="2002559"/>
            <a:ext cx="5962650" cy="3000375"/>
          </a:xfrm>
          <a:prstGeom prst="rect">
            <a:avLst/>
          </a:prstGeom>
          <a:ln>
            <a:noFill/>
          </a:ln>
          <a:effectLst>
            <a:outerShdw blurRad="292100" dist="139700" dir="2700000" algn="tl" rotWithShape="0">
              <a:srgbClr val="333333">
                <a:alpha val="65000"/>
              </a:srgbClr>
            </a:outerShdw>
          </a:effectLst>
        </p:spPr>
      </p:pic>
      <p:pic>
        <p:nvPicPr>
          <p:cNvPr id="5" name="Imagen 4">
            <a:extLst>
              <a:ext uri="{FF2B5EF4-FFF2-40B4-BE49-F238E27FC236}">
                <a16:creationId xmlns:a16="http://schemas.microsoft.com/office/drawing/2014/main" id="{F5DEDC44-0915-4EAA-AC4A-D4B2D6D97548}"/>
              </a:ext>
            </a:extLst>
          </p:cNvPr>
          <p:cNvPicPr>
            <a:picLocks noChangeAspect="1"/>
          </p:cNvPicPr>
          <p:nvPr/>
        </p:nvPicPr>
        <p:blipFill>
          <a:blip r:embed="rId3"/>
          <a:stretch>
            <a:fillRect/>
          </a:stretch>
        </p:blipFill>
        <p:spPr>
          <a:xfrm>
            <a:off x="7421105" y="2000981"/>
            <a:ext cx="2915358" cy="300195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750783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93A5E3-7FA5-44D4-9861-00C674C8E6D6}"/>
              </a:ext>
            </a:extLst>
          </p:cNvPr>
          <p:cNvSpPr>
            <a:spLocks noGrp="1"/>
          </p:cNvSpPr>
          <p:nvPr>
            <p:ph type="title"/>
          </p:nvPr>
        </p:nvSpPr>
        <p:spPr/>
        <p:txBody>
          <a:bodyPr/>
          <a:lstStyle/>
          <a:p>
            <a:r>
              <a:rPr lang="es-ES" dirty="0"/>
              <a:t>La propiedad CSS </a:t>
            </a:r>
            <a:r>
              <a:rPr lang="es-ES" dirty="0" err="1">
                <a:latin typeface="Consolas" panose="020B0609020204030204" pitchFamily="49" charset="0"/>
              </a:rPr>
              <a:t>clear</a:t>
            </a:r>
            <a:endParaRPr lang="es-ES" dirty="0">
              <a:latin typeface="Consolas" panose="020B0609020204030204" pitchFamily="49" charset="0"/>
            </a:endParaRPr>
          </a:p>
        </p:txBody>
      </p:sp>
      <p:sp>
        <p:nvSpPr>
          <p:cNvPr id="3" name="Marcador de contenido 2">
            <a:extLst>
              <a:ext uri="{FF2B5EF4-FFF2-40B4-BE49-F238E27FC236}">
                <a16:creationId xmlns:a16="http://schemas.microsoft.com/office/drawing/2014/main" id="{AEB173A8-667B-45C6-83E1-BCD3CEBEF06B}"/>
              </a:ext>
            </a:extLst>
          </p:cNvPr>
          <p:cNvSpPr>
            <a:spLocks noGrp="1"/>
          </p:cNvSpPr>
          <p:nvPr>
            <p:ph idx="1"/>
          </p:nvPr>
        </p:nvSpPr>
        <p:spPr/>
        <p:txBody>
          <a:bodyPr>
            <a:normAutofit/>
          </a:bodyPr>
          <a:lstStyle/>
          <a:p>
            <a:r>
              <a:rPr lang="es-ES" dirty="0"/>
              <a:t>La propiedad </a:t>
            </a:r>
            <a:r>
              <a:rPr lang="es-ES" dirty="0" err="1"/>
              <a:t>clear</a:t>
            </a:r>
            <a:r>
              <a:rPr lang="es-ES" dirty="0"/>
              <a:t> indica el lado del elemento HTML que no debe ser adyacente a ninguna caja posicionada de forma flotante. Dependiendo del valor que se indique, </a:t>
            </a:r>
            <a:r>
              <a:rPr lang="es-ES" dirty="0" err="1">
                <a:latin typeface="Consolas" panose="020B0609020204030204" pitchFamily="49" charset="0"/>
              </a:rPr>
              <a:t>left</a:t>
            </a:r>
            <a:r>
              <a:rPr lang="es-ES" dirty="0"/>
              <a:t>, </a:t>
            </a:r>
            <a:r>
              <a:rPr lang="es-ES" dirty="0" err="1">
                <a:latin typeface="Consolas" panose="020B0609020204030204" pitchFamily="49" charset="0"/>
              </a:rPr>
              <a:t>right</a:t>
            </a:r>
            <a:r>
              <a:rPr lang="es-ES" dirty="0"/>
              <a:t> o </a:t>
            </a:r>
            <a:r>
              <a:rPr lang="es-ES" dirty="0" err="1">
                <a:latin typeface="Consolas" panose="020B0609020204030204" pitchFamily="49" charset="0"/>
              </a:rPr>
              <a:t>both</a:t>
            </a:r>
            <a:r>
              <a:rPr lang="es-ES" dirty="0"/>
              <a:t>, el elemento se desplaza de forma descendente hasta que pueda colocarse en una línea en la que no haya ninguna caja flotante en el lado indicado en el valor</a:t>
            </a:r>
          </a:p>
          <a:p>
            <a:r>
              <a:rPr lang="es-ES" dirty="0"/>
              <a:t>Como se verá más adelante, la propiedad </a:t>
            </a:r>
            <a:r>
              <a:rPr lang="es-ES" dirty="0" err="1">
                <a:latin typeface="Consolas" panose="020B0609020204030204" pitchFamily="49" charset="0"/>
              </a:rPr>
              <a:t>clear</a:t>
            </a:r>
            <a:r>
              <a:rPr lang="es-ES" dirty="0"/>
              <a:t> es imprescindible cuando se crean las estructuras de las páginas web complejas</a:t>
            </a:r>
          </a:p>
        </p:txBody>
      </p:sp>
    </p:spTree>
    <p:extLst>
      <p:ext uri="{BB962C8B-B14F-4D97-AF65-F5344CB8AC3E}">
        <p14:creationId xmlns:p14="http://schemas.microsoft.com/office/powerpoint/2010/main" val="1931754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355720-2AEF-4ABA-88C6-9F63D6F7C541}"/>
              </a:ext>
            </a:extLst>
          </p:cNvPr>
          <p:cNvSpPr>
            <a:spLocks noGrp="1"/>
          </p:cNvSpPr>
          <p:nvPr>
            <p:ph type="title"/>
          </p:nvPr>
        </p:nvSpPr>
        <p:spPr/>
        <p:txBody>
          <a:bodyPr/>
          <a:lstStyle/>
          <a:p>
            <a:r>
              <a:rPr lang="es-ES" dirty="0"/>
              <a:t>Posicionamiento flotante (</a:t>
            </a:r>
            <a:r>
              <a:rPr lang="es-ES" dirty="0" err="1">
                <a:latin typeface="Consolas" panose="020B0609020204030204" pitchFamily="49" charset="0"/>
              </a:rPr>
              <a:t>float</a:t>
            </a:r>
            <a:r>
              <a:rPr lang="es-ES" dirty="0"/>
              <a:t> )</a:t>
            </a:r>
          </a:p>
        </p:txBody>
      </p:sp>
      <p:pic>
        <p:nvPicPr>
          <p:cNvPr id="4" name="Imagen 3">
            <a:extLst>
              <a:ext uri="{FF2B5EF4-FFF2-40B4-BE49-F238E27FC236}">
                <a16:creationId xmlns:a16="http://schemas.microsoft.com/office/drawing/2014/main" id="{4C95885E-55B9-4AEC-BA9C-8E8346400935}"/>
              </a:ext>
            </a:extLst>
          </p:cNvPr>
          <p:cNvPicPr>
            <a:picLocks noChangeAspect="1"/>
          </p:cNvPicPr>
          <p:nvPr/>
        </p:nvPicPr>
        <p:blipFill>
          <a:blip r:embed="rId2"/>
          <a:stretch>
            <a:fillRect/>
          </a:stretch>
        </p:blipFill>
        <p:spPr>
          <a:xfrm>
            <a:off x="168115" y="1756906"/>
            <a:ext cx="11952270" cy="452197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93993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75A875-1032-4454-BE28-EDABACCC0409}"/>
              </a:ext>
            </a:extLst>
          </p:cNvPr>
          <p:cNvSpPr>
            <a:spLocks noGrp="1"/>
          </p:cNvSpPr>
          <p:nvPr>
            <p:ph type="title"/>
          </p:nvPr>
        </p:nvSpPr>
        <p:spPr/>
        <p:txBody>
          <a:bodyPr/>
          <a:lstStyle/>
          <a:p>
            <a:r>
              <a:rPr lang="es-ES" dirty="0"/>
              <a:t>La propiedad CSS </a:t>
            </a:r>
            <a:r>
              <a:rPr lang="es-ES" dirty="0" err="1">
                <a:latin typeface="Consolas" panose="020B0609020204030204" pitchFamily="49" charset="0"/>
              </a:rPr>
              <a:t>clear</a:t>
            </a:r>
            <a:endParaRPr lang="es-ES" dirty="0"/>
          </a:p>
        </p:txBody>
      </p:sp>
      <p:pic>
        <p:nvPicPr>
          <p:cNvPr id="4" name="Marcador de contenido 3">
            <a:extLst>
              <a:ext uri="{FF2B5EF4-FFF2-40B4-BE49-F238E27FC236}">
                <a16:creationId xmlns:a16="http://schemas.microsoft.com/office/drawing/2014/main" id="{01E1FE94-7A5A-499D-BAD6-AB18BDB8DEB6}"/>
              </a:ext>
            </a:extLst>
          </p:cNvPr>
          <p:cNvPicPr>
            <a:picLocks noGrp="1" noChangeAspect="1"/>
          </p:cNvPicPr>
          <p:nvPr>
            <p:ph idx="1"/>
          </p:nvPr>
        </p:nvPicPr>
        <p:blipFill>
          <a:blip r:embed="rId2"/>
          <a:stretch>
            <a:fillRect/>
          </a:stretch>
        </p:blipFill>
        <p:spPr>
          <a:xfrm>
            <a:off x="248653" y="1575019"/>
            <a:ext cx="11694694" cy="467664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80778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6134EE-377B-4C01-9EFB-BAF186D32B91}"/>
              </a:ext>
            </a:extLst>
          </p:cNvPr>
          <p:cNvSpPr>
            <a:spLocks noGrp="1"/>
          </p:cNvSpPr>
          <p:nvPr>
            <p:ph type="title"/>
          </p:nvPr>
        </p:nvSpPr>
        <p:spPr/>
        <p:txBody>
          <a:bodyPr/>
          <a:lstStyle/>
          <a:p>
            <a:r>
              <a:rPr lang="es-ES" dirty="0"/>
              <a:t>La propiedad CSS </a:t>
            </a:r>
            <a:r>
              <a:rPr lang="es-ES" dirty="0">
                <a:latin typeface="Consolas" panose="020B0609020204030204" pitchFamily="49" charset="0"/>
              </a:rPr>
              <a:t>display</a:t>
            </a:r>
          </a:p>
        </p:txBody>
      </p:sp>
      <p:sp>
        <p:nvSpPr>
          <p:cNvPr id="3" name="Marcador de contenido 2">
            <a:extLst>
              <a:ext uri="{FF2B5EF4-FFF2-40B4-BE49-F238E27FC236}">
                <a16:creationId xmlns:a16="http://schemas.microsoft.com/office/drawing/2014/main" id="{CAB1BA0A-42E8-4E7C-B301-B90476480197}"/>
              </a:ext>
            </a:extLst>
          </p:cNvPr>
          <p:cNvSpPr>
            <a:spLocks noGrp="1"/>
          </p:cNvSpPr>
          <p:nvPr>
            <p:ph idx="1"/>
          </p:nvPr>
        </p:nvSpPr>
        <p:spPr/>
        <p:txBody>
          <a:bodyPr/>
          <a:lstStyle/>
          <a:p>
            <a:r>
              <a:rPr lang="es-ES" dirty="0"/>
              <a:t>La propiedad </a:t>
            </a:r>
            <a:r>
              <a:rPr lang="es-ES" dirty="0">
                <a:latin typeface="Consolas" panose="020B0609020204030204" pitchFamily="49" charset="0"/>
              </a:rPr>
              <a:t>display</a:t>
            </a:r>
            <a:r>
              <a:rPr lang="es-ES" dirty="0"/>
              <a:t> permite ocultar completamente un elemento haciendo que desaparezca de la página. Como el elemento oculto no se muestra, el resto de elementos de la página se mueven para ocupar su lugar</a:t>
            </a:r>
          </a:p>
          <a:p>
            <a:r>
              <a:rPr lang="es-ES" dirty="0"/>
              <a:t>Esta propiedad ya la estudiamos en el </a:t>
            </a:r>
            <a:r>
              <a:rPr lang="es-ES" b="1" dirty="0"/>
              <a:t>tema 2.3 Modelo de cajas</a:t>
            </a:r>
          </a:p>
        </p:txBody>
      </p:sp>
    </p:spTree>
    <p:extLst>
      <p:ext uri="{BB962C8B-B14F-4D97-AF65-F5344CB8AC3E}">
        <p14:creationId xmlns:p14="http://schemas.microsoft.com/office/powerpoint/2010/main" val="1802222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C4AA5E-9DE1-473D-9C48-FA37F9A6F048}"/>
              </a:ext>
            </a:extLst>
          </p:cNvPr>
          <p:cNvSpPr>
            <a:spLocks noGrp="1"/>
          </p:cNvSpPr>
          <p:nvPr>
            <p:ph type="title"/>
          </p:nvPr>
        </p:nvSpPr>
        <p:spPr/>
        <p:txBody>
          <a:bodyPr/>
          <a:lstStyle/>
          <a:p>
            <a:r>
              <a:rPr lang="es-ES" dirty="0"/>
              <a:t>La propiedad CSS </a:t>
            </a:r>
            <a:r>
              <a:rPr lang="es-ES" dirty="0" err="1">
                <a:latin typeface="Consolas" panose="020B0609020204030204" pitchFamily="49" charset="0"/>
              </a:rPr>
              <a:t>visibility</a:t>
            </a:r>
            <a:endParaRPr lang="es-ES" dirty="0">
              <a:latin typeface="Consolas" panose="020B0609020204030204" pitchFamily="49" charset="0"/>
            </a:endParaRPr>
          </a:p>
        </p:txBody>
      </p:sp>
      <p:sp>
        <p:nvSpPr>
          <p:cNvPr id="3" name="Marcador de contenido 2">
            <a:extLst>
              <a:ext uri="{FF2B5EF4-FFF2-40B4-BE49-F238E27FC236}">
                <a16:creationId xmlns:a16="http://schemas.microsoft.com/office/drawing/2014/main" id="{33896B44-145F-439F-A7A3-E374620FA4A7}"/>
              </a:ext>
            </a:extLst>
          </p:cNvPr>
          <p:cNvSpPr>
            <a:spLocks noGrp="1"/>
          </p:cNvSpPr>
          <p:nvPr>
            <p:ph idx="1"/>
          </p:nvPr>
        </p:nvSpPr>
        <p:spPr/>
        <p:txBody>
          <a:bodyPr/>
          <a:lstStyle/>
          <a:p>
            <a:r>
              <a:rPr lang="es-ES" dirty="0"/>
              <a:t>la propiedad </a:t>
            </a:r>
            <a:r>
              <a:rPr lang="es-ES" dirty="0" err="1">
                <a:latin typeface="Consolas" panose="020B0609020204030204" pitchFamily="49" charset="0"/>
              </a:rPr>
              <a:t>visibility</a:t>
            </a:r>
            <a:r>
              <a:rPr lang="es-ES" dirty="0"/>
              <a:t> permite hacer invisible un elemento, lo que significa que el navegador crea la caja del elemento pero no la muestra. En este caso, el resto de elementos de la página no modifican su posición, ya que aunque la caja no se ve, sigue ocupando sitio</a:t>
            </a:r>
          </a:p>
          <a:p>
            <a:r>
              <a:rPr lang="es-ES" dirty="0"/>
              <a:t>Las posibilidades de la propiedad </a:t>
            </a:r>
            <a:r>
              <a:rPr lang="es-ES" dirty="0" err="1">
                <a:latin typeface="Consolas" panose="020B0609020204030204" pitchFamily="49" charset="0"/>
              </a:rPr>
              <a:t>visibility</a:t>
            </a:r>
            <a:r>
              <a:rPr lang="es-ES" dirty="0"/>
              <a:t> son mucho más limitadas que las de la propiedad </a:t>
            </a:r>
            <a:r>
              <a:rPr lang="es-ES" dirty="0">
                <a:latin typeface="Consolas" panose="020B0609020204030204" pitchFamily="49" charset="0"/>
              </a:rPr>
              <a:t>display</a:t>
            </a:r>
            <a:r>
              <a:rPr lang="es-ES" dirty="0"/>
              <a:t>, ya que sólo permite hacer visibles o invisibles a los elementos de la página</a:t>
            </a:r>
          </a:p>
        </p:txBody>
      </p:sp>
    </p:spTree>
    <p:extLst>
      <p:ext uri="{BB962C8B-B14F-4D97-AF65-F5344CB8AC3E}">
        <p14:creationId xmlns:p14="http://schemas.microsoft.com/office/powerpoint/2010/main" val="3434814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116444-4F42-43B7-BB6E-ABA75E522BE1}"/>
              </a:ext>
            </a:extLst>
          </p:cNvPr>
          <p:cNvSpPr>
            <a:spLocks noGrp="1"/>
          </p:cNvSpPr>
          <p:nvPr>
            <p:ph type="title"/>
          </p:nvPr>
        </p:nvSpPr>
        <p:spPr/>
        <p:txBody>
          <a:bodyPr/>
          <a:lstStyle/>
          <a:p>
            <a:r>
              <a:rPr lang="es-ES" dirty="0"/>
              <a:t>Las propiedades CSS </a:t>
            </a:r>
            <a:r>
              <a:rPr lang="es-ES" dirty="0">
                <a:latin typeface="Consolas" panose="020B0609020204030204" pitchFamily="49" charset="0"/>
              </a:rPr>
              <a:t>display</a:t>
            </a:r>
            <a:r>
              <a:rPr lang="es-ES" dirty="0"/>
              <a:t> y </a:t>
            </a:r>
            <a:r>
              <a:rPr lang="es-ES" dirty="0" err="1">
                <a:latin typeface="Consolas" panose="020B0609020204030204" pitchFamily="49" charset="0"/>
              </a:rPr>
              <a:t>visibility</a:t>
            </a:r>
            <a:endParaRPr lang="es-ES" dirty="0"/>
          </a:p>
        </p:txBody>
      </p:sp>
      <p:pic>
        <p:nvPicPr>
          <p:cNvPr id="4" name="Marcador de contenido 3">
            <a:extLst>
              <a:ext uri="{FF2B5EF4-FFF2-40B4-BE49-F238E27FC236}">
                <a16:creationId xmlns:a16="http://schemas.microsoft.com/office/drawing/2014/main" id="{1CA38039-D90F-49DD-99C7-2524312F023C}"/>
              </a:ext>
            </a:extLst>
          </p:cNvPr>
          <p:cNvPicPr>
            <a:picLocks noGrp="1" noChangeAspect="1"/>
          </p:cNvPicPr>
          <p:nvPr>
            <p:ph idx="1"/>
          </p:nvPr>
        </p:nvPicPr>
        <p:blipFill>
          <a:blip r:embed="rId2"/>
          <a:stretch>
            <a:fillRect/>
          </a:stretch>
        </p:blipFill>
        <p:spPr>
          <a:xfrm>
            <a:off x="1726240" y="2266328"/>
            <a:ext cx="2784214" cy="4162116"/>
          </a:xfrm>
          <a:prstGeom prst="rect">
            <a:avLst/>
          </a:prstGeom>
          <a:ln>
            <a:noFill/>
          </a:ln>
          <a:effectLst>
            <a:outerShdw blurRad="292100" dist="139700" dir="2700000" algn="tl" rotWithShape="0">
              <a:srgbClr val="333333">
                <a:alpha val="65000"/>
              </a:srgbClr>
            </a:outerShdw>
          </a:effectLst>
        </p:spPr>
      </p:pic>
      <p:pic>
        <p:nvPicPr>
          <p:cNvPr id="5" name="Imagen 4">
            <a:extLst>
              <a:ext uri="{FF2B5EF4-FFF2-40B4-BE49-F238E27FC236}">
                <a16:creationId xmlns:a16="http://schemas.microsoft.com/office/drawing/2014/main" id="{78B0E1AA-DDCC-4404-8DA7-0F3916535D5E}"/>
              </a:ext>
            </a:extLst>
          </p:cNvPr>
          <p:cNvPicPr>
            <a:picLocks noChangeAspect="1"/>
          </p:cNvPicPr>
          <p:nvPr/>
        </p:nvPicPr>
        <p:blipFill>
          <a:blip r:embed="rId3"/>
          <a:stretch>
            <a:fillRect/>
          </a:stretch>
        </p:blipFill>
        <p:spPr>
          <a:xfrm>
            <a:off x="6028623" y="2266328"/>
            <a:ext cx="4613628" cy="41621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60352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355100-F11A-4A24-BBB2-70B56B930FC0}"/>
              </a:ext>
            </a:extLst>
          </p:cNvPr>
          <p:cNvSpPr>
            <a:spLocks noGrp="1"/>
          </p:cNvSpPr>
          <p:nvPr>
            <p:ph type="title"/>
          </p:nvPr>
        </p:nvSpPr>
        <p:spPr/>
        <p:txBody>
          <a:bodyPr/>
          <a:lstStyle/>
          <a:p>
            <a:r>
              <a:rPr lang="es-ES" dirty="0"/>
              <a:t>Las propiedades CSS </a:t>
            </a:r>
            <a:r>
              <a:rPr lang="es-ES" dirty="0">
                <a:latin typeface="Consolas" panose="020B0609020204030204" pitchFamily="49" charset="0"/>
              </a:rPr>
              <a:t>display</a:t>
            </a:r>
            <a:r>
              <a:rPr lang="es-ES" dirty="0"/>
              <a:t> y </a:t>
            </a:r>
            <a:r>
              <a:rPr lang="es-ES" dirty="0" err="1">
                <a:latin typeface="Consolas" panose="020B0609020204030204" pitchFamily="49" charset="0"/>
              </a:rPr>
              <a:t>visibility</a:t>
            </a:r>
            <a:endParaRPr lang="es-ES" dirty="0"/>
          </a:p>
        </p:txBody>
      </p:sp>
      <p:pic>
        <p:nvPicPr>
          <p:cNvPr id="4" name="Marcador de contenido 3">
            <a:extLst>
              <a:ext uri="{FF2B5EF4-FFF2-40B4-BE49-F238E27FC236}">
                <a16:creationId xmlns:a16="http://schemas.microsoft.com/office/drawing/2014/main" id="{0DF3537F-8AB4-462E-926A-0D521B7DB0BB}"/>
              </a:ext>
            </a:extLst>
          </p:cNvPr>
          <p:cNvPicPr>
            <a:picLocks noGrp="1" noChangeAspect="1"/>
          </p:cNvPicPr>
          <p:nvPr>
            <p:ph idx="1"/>
          </p:nvPr>
        </p:nvPicPr>
        <p:blipFill>
          <a:blip r:embed="rId2"/>
          <a:stretch>
            <a:fillRect/>
          </a:stretch>
        </p:blipFill>
        <p:spPr>
          <a:xfrm>
            <a:off x="2310815" y="2206869"/>
            <a:ext cx="7257999" cy="42378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742690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3F733F-92F7-41A2-936E-CADE9F8B0C6B}"/>
              </a:ext>
            </a:extLst>
          </p:cNvPr>
          <p:cNvSpPr>
            <a:spLocks noGrp="1"/>
          </p:cNvSpPr>
          <p:nvPr>
            <p:ph type="title"/>
          </p:nvPr>
        </p:nvSpPr>
        <p:spPr/>
        <p:txBody>
          <a:bodyPr/>
          <a:lstStyle/>
          <a:p>
            <a:r>
              <a:rPr lang="es-ES" dirty="0"/>
              <a:t>Relación entre las propiedades CSS </a:t>
            </a:r>
            <a:r>
              <a:rPr lang="es-ES" dirty="0">
                <a:latin typeface="Consolas" panose="020B0609020204030204" pitchFamily="49" charset="0"/>
              </a:rPr>
              <a:t>display</a:t>
            </a:r>
            <a:r>
              <a:rPr lang="es-ES" dirty="0"/>
              <a:t>, </a:t>
            </a:r>
            <a:r>
              <a:rPr lang="es-ES" dirty="0" err="1">
                <a:latin typeface="Consolas" panose="020B0609020204030204" pitchFamily="49" charset="0"/>
              </a:rPr>
              <a:t>float</a:t>
            </a:r>
            <a:r>
              <a:rPr lang="es-ES" dirty="0"/>
              <a:t> y </a:t>
            </a:r>
            <a:r>
              <a:rPr lang="es-ES" dirty="0">
                <a:latin typeface="Consolas" panose="020B0609020204030204" pitchFamily="49" charset="0"/>
              </a:rPr>
              <a:t>position</a:t>
            </a:r>
          </a:p>
        </p:txBody>
      </p:sp>
      <p:sp>
        <p:nvSpPr>
          <p:cNvPr id="3" name="Marcador de contenido 2">
            <a:extLst>
              <a:ext uri="{FF2B5EF4-FFF2-40B4-BE49-F238E27FC236}">
                <a16:creationId xmlns:a16="http://schemas.microsoft.com/office/drawing/2014/main" id="{53D36CAA-2AC5-496E-94AB-785165F29F43}"/>
              </a:ext>
            </a:extLst>
          </p:cNvPr>
          <p:cNvSpPr>
            <a:spLocks noGrp="1"/>
          </p:cNvSpPr>
          <p:nvPr>
            <p:ph idx="1"/>
          </p:nvPr>
        </p:nvSpPr>
        <p:spPr/>
        <p:txBody>
          <a:bodyPr>
            <a:normAutofit fontScale="92500" lnSpcReduction="20000"/>
          </a:bodyPr>
          <a:lstStyle/>
          <a:p>
            <a:r>
              <a:rPr lang="es-ES" dirty="0"/>
              <a:t>Cuando se establecen las propiedades </a:t>
            </a:r>
            <a:r>
              <a:rPr lang="es-ES" dirty="0">
                <a:latin typeface="Consolas" panose="020B0609020204030204" pitchFamily="49" charset="0"/>
              </a:rPr>
              <a:t>display</a:t>
            </a:r>
            <a:r>
              <a:rPr lang="es-ES" dirty="0"/>
              <a:t>, </a:t>
            </a:r>
            <a:r>
              <a:rPr lang="es-ES" dirty="0" err="1">
                <a:latin typeface="Consolas" panose="020B0609020204030204" pitchFamily="49" charset="0"/>
              </a:rPr>
              <a:t>float</a:t>
            </a:r>
            <a:r>
              <a:rPr lang="es-ES" dirty="0"/>
              <a:t> y </a:t>
            </a:r>
            <a:r>
              <a:rPr lang="es-ES" dirty="0">
                <a:latin typeface="Consolas" panose="020B0609020204030204" pitchFamily="49" charset="0"/>
              </a:rPr>
              <a:t>position</a:t>
            </a:r>
            <a:r>
              <a:rPr lang="es-ES" dirty="0"/>
              <a:t> sobre una misma caja, su interpretación es la siguiente:</a:t>
            </a:r>
          </a:p>
          <a:p>
            <a:pPr lvl="1"/>
            <a:r>
              <a:rPr lang="es-ES" dirty="0"/>
              <a:t>Si </a:t>
            </a:r>
            <a:r>
              <a:rPr lang="es-ES" dirty="0">
                <a:latin typeface="Consolas" panose="020B0609020204030204" pitchFamily="49" charset="0"/>
              </a:rPr>
              <a:t>display</a:t>
            </a:r>
            <a:r>
              <a:rPr lang="es-ES" dirty="0"/>
              <a:t> vale </a:t>
            </a:r>
            <a:r>
              <a:rPr lang="es-ES" dirty="0" err="1">
                <a:latin typeface="Consolas" panose="020B0609020204030204" pitchFamily="49" charset="0"/>
              </a:rPr>
              <a:t>none</a:t>
            </a:r>
            <a:r>
              <a:rPr lang="es-ES" dirty="0"/>
              <a:t>, se ignoran las propiedades </a:t>
            </a:r>
            <a:r>
              <a:rPr lang="es-ES" dirty="0" err="1">
                <a:latin typeface="Consolas" panose="020B0609020204030204" pitchFamily="49" charset="0"/>
              </a:rPr>
              <a:t>float</a:t>
            </a:r>
            <a:r>
              <a:rPr lang="es-ES" dirty="0"/>
              <a:t> y </a:t>
            </a:r>
            <a:r>
              <a:rPr lang="es-ES" dirty="0">
                <a:latin typeface="Consolas" panose="020B0609020204030204" pitchFamily="49" charset="0"/>
              </a:rPr>
              <a:t>position</a:t>
            </a:r>
            <a:r>
              <a:rPr lang="es-ES" dirty="0"/>
              <a:t> y la caja no se muestra en la página.</a:t>
            </a:r>
          </a:p>
          <a:p>
            <a:pPr lvl="1"/>
            <a:r>
              <a:rPr lang="es-ES" dirty="0"/>
              <a:t>Si </a:t>
            </a:r>
            <a:r>
              <a:rPr lang="es-ES" dirty="0">
                <a:latin typeface="Consolas" panose="020B0609020204030204" pitchFamily="49" charset="0"/>
              </a:rPr>
              <a:t>position</a:t>
            </a:r>
            <a:r>
              <a:rPr lang="es-ES" dirty="0"/>
              <a:t> vale </a:t>
            </a:r>
            <a:r>
              <a:rPr lang="es-ES" dirty="0" err="1">
                <a:latin typeface="Consolas" panose="020B0609020204030204" pitchFamily="49" charset="0"/>
              </a:rPr>
              <a:t>absolute</a:t>
            </a:r>
            <a:r>
              <a:rPr lang="es-ES" dirty="0"/>
              <a:t> o </a:t>
            </a:r>
            <a:r>
              <a:rPr lang="es-ES" dirty="0" err="1">
                <a:latin typeface="Consolas" panose="020B0609020204030204" pitchFamily="49" charset="0"/>
              </a:rPr>
              <a:t>fixed</a:t>
            </a:r>
            <a:r>
              <a:rPr lang="es-ES" dirty="0"/>
              <a:t>, la caja se posiciona de forma absoluta, se considera que </a:t>
            </a:r>
            <a:r>
              <a:rPr lang="es-ES" dirty="0" err="1">
                <a:latin typeface="Consolas" panose="020B0609020204030204" pitchFamily="49" charset="0"/>
              </a:rPr>
              <a:t>float</a:t>
            </a:r>
            <a:r>
              <a:rPr lang="es-ES" dirty="0"/>
              <a:t> vale </a:t>
            </a:r>
            <a:r>
              <a:rPr lang="es-ES" dirty="0" err="1">
                <a:latin typeface="Consolas" panose="020B0609020204030204" pitchFamily="49" charset="0"/>
              </a:rPr>
              <a:t>none</a:t>
            </a:r>
            <a:r>
              <a:rPr lang="es-ES" dirty="0"/>
              <a:t> y la propiedad </a:t>
            </a:r>
            <a:r>
              <a:rPr lang="es-ES" dirty="0">
                <a:latin typeface="Consolas" panose="020B0609020204030204" pitchFamily="49" charset="0"/>
              </a:rPr>
              <a:t>display</a:t>
            </a:r>
            <a:r>
              <a:rPr lang="es-ES" dirty="0"/>
              <a:t> vale </a:t>
            </a:r>
            <a:r>
              <a:rPr lang="es-ES" dirty="0">
                <a:latin typeface="Consolas" panose="020B0609020204030204" pitchFamily="49" charset="0"/>
              </a:rPr>
              <a:t>block</a:t>
            </a:r>
            <a:r>
              <a:rPr lang="es-ES" dirty="0"/>
              <a:t> tanto para los elementos en línea como para los elementos de bloque. La posición de la caja se determina mediante el valor de las propiedades </a:t>
            </a:r>
            <a:r>
              <a:rPr lang="es-ES" dirty="0">
                <a:latin typeface="Consolas" panose="020B0609020204030204" pitchFamily="49" charset="0"/>
              </a:rPr>
              <a:t>top</a:t>
            </a:r>
            <a:r>
              <a:rPr lang="es-ES" dirty="0"/>
              <a:t>, </a:t>
            </a:r>
            <a:r>
              <a:rPr lang="es-ES" dirty="0" err="1">
                <a:latin typeface="Consolas" panose="020B0609020204030204" pitchFamily="49" charset="0"/>
              </a:rPr>
              <a:t>right</a:t>
            </a:r>
            <a:r>
              <a:rPr lang="es-ES" dirty="0"/>
              <a:t>, </a:t>
            </a:r>
            <a:r>
              <a:rPr lang="es-ES" dirty="0" err="1">
                <a:latin typeface="Consolas" panose="020B0609020204030204" pitchFamily="49" charset="0"/>
              </a:rPr>
              <a:t>bottom</a:t>
            </a:r>
            <a:r>
              <a:rPr lang="es-ES" dirty="0"/>
              <a:t> y </a:t>
            </a:r>
            <a:r>
              <a:rPr lang="es-ES" dirty="0" err="1"/>
              <a:t>left</a:t>
            </a:r>
            <a:r>
              <a:rPr lang="es-ES" dirty="0"/>
              <a:t>.</a:t>
            </a:r>
          </a:p>
          <a:p>
            <a:pPr lvl="1"/>
            <a:r>
              <a:rPr lang="es-ES" dirty="0"/>
              <a:t>En cualquier otro caso, si </a:t>
            </a:r>
            <a:r>
              <a:rPr lang="es-ES" dirty="0" err="1">
                <a:latin typeface="Consolas" panose="020B0609020204030204" pitchFamily="49" charset="0"/>
              </a:rPr>
              <a:t>float</a:t>
            </a:r>
            <a:r>
              <a:rPr lang="es-ES" dirty="0"/>
              <a:t> tiene un valor distinto de </a:t>
            </a:r>
            <a:r>
              <a:rPr lang="es-ES" dirty="0" err="1">
                <a:latin typeface="Consolas" panose="020B0609020204030204" pitchFamily="49" charset="0"/>
              </a:rPr>
              <a:t>none</a:t>
            </a:r>
            <a:r>
              <a:rPr lang="es-ES" dirty="0"/>
              <a:t>, la caja se posiciona de forma flotante y la propiedad </a:t>
            </a:r>
            <a:r>
              <a:rPr lang="es-ES" dirty="0">
                <a:latin typeface="Consolas" panose="020B0609020204030204" pitchFamily="49" charset="0"/>
              </a:rPr>
              <a:t>display</a:t>
            </a:r>
            <a:r>
              <a:rPr lang="es-ES" dirty="0"/>
              <a:t> vale </a:t>
            </a:r>
            <a:r>
              <a:rPr lang="es-ES" dirty="0">
                <a:latin typeface="Consolas" panose="020B0609020204030204" pitchFamily="49" charset="0"/>
              </a:rPr>
              <a:t>block</a:t>
            </a:r>
            <a:r>
              <a:rPr lang="es-ES" dirty="0"/>
              <a:t> tanto para los elementos en línea como para los elementos de bloque.</a:t>
            </a:r>
          </a:p>
          <a:p>
            <a:endParaRPr lang="es-ES" dirty="0"/>
          </a:p>
        </p:txBody>
      </p:sp>
    </p:spTree>
    <p:extLst>
      <p:ext uri="{BB962C8B-B14F-4D97-AF65-F5344CB8AC3E}">
        <p14:creationId xmlns:p14="http://schemas.microsoft.com/office/powerpoint/2010/main" val="838130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779134-7099-4057-9B43-A4BCA7AADCC7}"/>
              </a:ext>
            </a:extLst>
          </p:cNvPr>
          <p:cNvSpPr>
            <a:spLocks noGrp="1"/>
          </p:cNvSpPr>
          <p:nvPr>
            <p:ph type="title"/>
          </p:nvPr>
        </p:nvSpPr>
        <p:spPr/>
        <p:txBody>
          <a:bodyPr/>
          <a:lstStyle/>
          <a:p>
            <a:r>
              <a:rPr lang="es-ES" dirty="0"/>
              <a:t>La propiedad CSS </a:t>
            </a:r>
            <a:r>
              <a:rPr lang="es-ES" dirty="0" err="1">
                <a:latin typeface="Consolas" panose="020B0609020204030204" pitchFamily="49" charset="0"/>
              </a:rPr>
              <a:t>overflow</a:t>
            </a:r>
            <a:endParaRPr lang="es-ES" dirty="0">
              <a:latin typeface="Consolas" panose="020B0609020204030204" pitchFamily="49" charset="0"/>
            </a:endParaRPr>
          </a:p>
        </p:txBody>
      </p:sp>
      <p:sp>
        <p:nvSpPr>
          <p:cNvPr id="3" name="Marcador de contenido 2">
            <a:extLst>
              <a:ext uri="{FF2B5EF4-FFF2-40B4-BE49-F238E27FC236}">
                <a16:creationId xmlns:a16="http://schemas.microsoft.com/office/drawing/2014/main" id="{38961600-EF69-44B6-A309-A19BDA7EFE4A}"/>
              </a:ext>
            </a:extLst>
          </p:cNvPr>
          <p:cNvSpPr>
            <a:spLocks noGrp="1"/>
          </p:cNvSpPr>
          <p:nvPr>
            <p:ph idx="1"/>
          </p:nvPr>
        </p:nvSpPr>
        <p:spPr/>
        <p:txBody>
          <a:bodyPr>
            <a:normAutofit fontScale="77500" lnSpcReduction="20000"/>
          </a:bodyPr>
          <a:lstStyle/>
          <a:p>
            <a:r>
              <a:rPr lang="es-ES" dirty="0"/>
              <a:t>La propiedad </a:t>
            </a:r>
            <a:r>
              <a:rPr lang="es-ES" dirty="0" err="1">
                <a:latin typeface="Consolas" panose="020B0609020204030204" pitchFamily="49" charset="0"/>
              </a:rPr>
              <a:t>overflow</a:t>
            </a:r>
            <a:r>
              <a:rPr lang="es-ES" dirty="0"/>
              <a:t> sirve para controlar la forma en la que se visualizan los contenidos que sobresalen de sus elementos</a:t>
            </a:r>
          </a:p>
          <a:p>
            <a:r>
              <a:rPr lang="es-ES" dirty="0"/>
              <a:t>Los valores de la propiedad </a:t>
            </a:r>
            <a:r>
              <a:rPr lang="es-ES" dirty="0" err="1">
                <a:latin typeface="Consolas" panose="020B0609020204030204" pitchFamily="49" charset="0"/>
              </a:rPr>
              <a:t>overflow</a:t>
            </a:r>
            <a:r>
              <a:rPr lang="es-ES" dirty="0"/>
              <a:t> tienen el siguiente significado:</a:t>
            </a:r>
          </a:p>
          <a:p>
            <a:pPr lvl="1"/>
            <a:r>
              <a:rPr lang="es-ES" dirty="0">
                <a:latin typeface="Consolas" panose="020B0609020204030204" pitchFamily="49" charset="0"/>
              </a:rPr>
              <a:t>visible</a:t>
            </a:r>
            <a:r>
              <a:rPr lang="es-ES" dirty="0"/>
              <a:t>: el contenido no se corta y se muestra sobresaliendo la zona reservada para visualizar el elemento. Este es el comportamiento por defecto.</a:t>
            </a:r>
          </a:p>
          <a:p>
            <a:pPr lvl="1"/>
            <a:r>
              <a:rPr lang="es-ES" dirty="0" err="1">
                <a:latin typeface="Consolas" panose="020B0609020204030204" pitchFamily="49" charset="0"/>
              </a:rPr>
              <a:t>hidden</a:t>
            </a:r>
            <a:r>
              <a:rPr lang="es-ES" dirty="0"/>
              <a:t>: el contenido sobrante se oculta y sólo se visualiza la parte del contenido que cabe dentro de la zona reservada para el elemento.</a:t>
            </a:r>
          </a:p>
          <a:p>
            <a:pPr lvl="1"/>
            <a:r>
              <a:rPr lang="es-ES" dirty="0" err="1">
                <a:latin typeface="Consolas" panose="020B0609020204030204" pitchFamily="49" charset="0"/>
              </a:rPr>
              <a:t>scroll</a:t>
            </a:r>
            <a:r>
              <a:rPr lang="es-ES" dirty="0"/>
              <a:t>: solamente se visualiza el contenido que cabe dentro de la zona reservada para el elemento, pero también se muestran barras de </a:t>
            </a:r>
            <a:r>
              <a:rPr lang="es-ES" dirty="0" err="1"/>
              <a:t>scroll</a:t>
            </a:r>
            <a:r>
              <a:rPr lang="es-ES" dirty="0"/>
              <a:t> que permiten visualizar el resto del contenido.</a:t>
            </a:r>
          </a:p>
          <a:p>
            <a:pPr lvl="1"/>
            <a:r>
              <a:rPr lang="es-ES" dirty="0">
                <a:latin typeface="Consolas" panose="020B0609020204030204" pitchFamily="49" charset="0"/>
              </a:rPr>
              <a:t>auto</a:t>
            </a:r>
            <a:r>
              <a:rPr lang="es-ES" dirty="0"/>
              <a:t>: el comportamiento depende del navegador, aunque normalmente es el mismo que la propiedad </a:t>
            </a:r>
            <a:r>
              <a:rPr lang="es-ES" dirty="0" err="1"/>
              <a:t>scroll</a:t>
            </a:r>
            <a:r>
              <a:rPr lang="es-ES" dirty="0"/>
              <a:t>.</a:t>
            </a:r>
          </a:p>
          <a:p>
            <a:endParaRPr lang="es-ES" dirty="0"/>
          </a:p>
        </p:txBody>
      </p:sp>
    </p:spTree>
    <p:extLst>
      <p:ext uri="{BB962C8B-B14F-4D97-AF65-F5344CB8AC3E}">
        <p14:creationId xmlns:p14="http://schemas.microsoft.com/office/powerpoint/2010/main" val="2182079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646E66-FE9B-4F85-9BCF-976A3ACC791C}"/>
              </a:ext>
            </a:extLst>
          </p:cNvPr>
          <p:cNvSpPr>
            <a:spLocks noGrp="1"/>
          </p:cNvSpPr>
          <p:nvPr>
            <p:ph type="title"/>
          </p:nvPr>
        </p:nvSpPr>
        <p:spPr/>
        <p:txBody>
          <a:bodyPr/>
          <a:lstStyle/>
          <a:p>
            <a:r>
              <a:rPr lang="es-ES" dirty="0"/>
              <a:t>La propiedad CSS </a:t>
            </a:r>
            <a:r>
              <a:rPr lang="es-ES" dirty="0" err="1">
                <a:latin typeface="Consolas" panose="020B0609020204030204" pitchFamily="49" charset="0"/>
              </a:rPr>
              <a:t>overflow</a:t>
            </a:r>
            <a:endParaRPr lang="es-ES" dirty="0"/>
          </a:p>
        </p:txBody>
      </p:sp>
      <p:pic>
        <p:nvPicPr>
          <p:cNvPr id="4" name="Marcador de contenido 3">
            <a:extLst>
              <a:ext uri="{FF2B5EF4-FFF2-40B4-BE49-F238E27FC236}">
                <a16:creationId xmlns:a16="http://schemas.microsoft.com/office/drawing/2014/main" id="{99C66A4F-B3DF-49AA-A9AA-3F88C1FE0A73}"/>
              </a:ext>
            </a:extLst>
          </p:cNvPr>
          <p:cNvPicPr>
            <a:picLocks noGrp="1" noChangeAspect="1"/>
          </p:cNvPicPr>
          <p:nvPr>
            <p:ph idx="1"/>
          </p:nvPr>
        </p:nvPicPr>
        <p:blipFill>
          <a:blip r:embed="rId2"/>
          <a:stretch>
            <a:fillRect/>
          </a:stretch>
        </p:blipFill>
        <p:spPr>
          <a:xfrm>
            <a:off x="989592" y="1625875"/>
            <a:ext cx="9350161" cy="48381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929311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B27E40-7A27-415A-8B1E-31C13DCAEEBE}"/>
              </a:ext>
            </a:extLst>
          </p:cNvPr>
          <p:cNvSpPr>
            <a:spLocks noGrp="1"/>
          </p:cNvSpPr>
          <p:nvPr>
            <p:ph type="title"/>
          </p:nvPr>
        </p:nvSpPr>
        <p:spPr/>
        <p:txBody>
          <a:bodyPr/>
          <a:lstStyle/>
          <a:p>
            <a:r>
              <a:rPr lang="es-ES" dirty="0"/>
              <a:t>La propiedad CSS </a:t>
            </a:r>
            <a:r>
              <a:rPr lang="es-ES" dirty="0">
                <a:latin typeface="Consolas" panose="020B0609020204030204" pitchFamily="49" charset="0"/>
              </a:rPr>
              <a:t>z-</a:t>
            </a:r>
            <a:r>
              <a:rPr lang="es-ES" dirty="0" err="1">
                <a:latin typeface="Consolas" panose="020B0609020204030204" pitchFamily="49" charset="0"/>
              </a:rPr>
              <a:t>index</a:t>
            </a:r>
            <a:endParaRPr lang="es-ES" dirty="0">
              <a:latin typeface="Consolas" panose="020B0609020204030204" pitchFamily="49" charset="0"/>
            </a:endParaRPr>
          </a:p>
        </p:txBody>
      </p:sp>
      <p:sp>
        <p:nvSpPr>
          <p:cNvPr id="3" name="Marcador de contenido 2">
            <a:extLst>
              <a:ext uri="{FF2B5EF4-FFF2-40B4-BE49-F238E27FC236}">
                <a16:creationId xmlns:a16="http://schemas.microsoft.com/office/drawing/2014/main" id="{61DCA8C7-2D71-4EAA-A2B3-79EB471B7226}"/>
              </a:ext>
            </a:extLst>
          </p:cNvPr>
          <p:cNvSpPr>
            <a:spLocks noGrp="1"/>
          </p:cNvSpPr>
          <p:nvPr>
            <p:ph idx="1"/>
          </p:nvPr>
        </p:nvSpPr>
        <p:spPr/>
        <p:txBody>
          <a:bodyPr>
            <a:normAutofit fontScale="85000" lnSpcReduction="10000"/>
          </a:bodyPr>
          <a:lstStyle/>
          <a:p>
            <a:r>
              <a:rPr lang="es-ES" dirty="0"/>
              <a:t>CSS permite controlar la posición tridimensional de las cajas posicionadas. De esta forma, es posible indicar las cajas que se muestran delante o detrás de otras cajas cuando se producen solapamientos</a:t>
            </a:r>
          </a:p>
          <a:p>
            <a:r>
              <a:rPr lang="es-ES" dirty="0"/>
              <a:t>La posición tridimensional de un elemento se establece sobre un tercer eje llamado Z y se controla mediante la propiedad </a:t>
            </a:r>
            <a:r>
              <a:rPr lang="es-ES" dirty="0">
                <a:latin typeface="Consolas" panose="020B0609020204030204" pitchFamily="49" charset="0"/>
              </a:rPr>
              <a:t>z-</a:t>
            </a:r>
            <a:r>
              <a:rPr lang="es-ES" dirty="0" err="1">
                <a:latin typeface="Consolas" panose="020B0609020204030204" pitchFamily="49" charset="0"/>
              </a:rPr>
              <a:t>index</a:t>
            </a:r>
            <a:r>
              <a:rPr lang="es-ES" dirty="0"/>
              <a:t>. Utilizando esta propiedad es posible crear páginas complejas con varios niveles o capas</a:t>
            </a:r>
          </a:p>
          <a:p>
            <a:r>
              <a:rPr lang="es-ES" dirty="0"/>
              <a:t>Cuanto más alto sea el valor numérico, más cerca del usuario se muestra la caja</a:t>
            </a:r>
          </a:p>
          <a:p>
            <a:r>
              <a:rPr lang="es-ES" dirty="0"/>
              <a:t>La propiedad </a:t>
            </a:r>
            <a:r>
              <a:rPr lang="es-ES" dirty="0">
                <a:latin typeface="Consolas" panose="020B0609020204030204" pitchFamily="49" charset="0"/>
              </a:rPr>
              <a:t>z-</a:t>
            </a:r>
            <a:r>
              <a:rPr lang="es-ES" dirty="0" err="1">
                <a:latin typeface="Consolas" panose="020B0609020204030204" pitchFamily="49" charset="0"/>
              </a:rPr>
              <a:t>index</a:t>
            </a:r>
            <a:r>
              <a:rPr lang="es-ES" dirty="0"/>
              <a:t> sólo tiene efecto en los elementos posicionados, por lo que es obligatorio que la propiedad </a:t>
            </a:r>
            <a:r>
              <a:rPr lang="es-ES" dirty="0">
                <a:latin typeface="Consolas" panose="020B0609020204030204" pitchFamily="49" charset="0"/>
              </a:rPr>
              <a:t>z-</a:t>
            </a:r>
            <a:r>
              <a:rPr lang="es-ES" dirty="0" err="1">
                <a:latin typeface="Consolas" panose="020B0609020204030204" pitchFamily="49" charset="0"/>
              </a:rPr>
              <a:t>index</a:t>
            </a:r>
            <a:r>
              <a:rPr lang="es-ES" dirty="0"/>
              <a:t> vaya acompañada de la propiedad </a:t>
            </a:r>
            <a:r>
              <a:rPr lang="es-ES" dirty="0">
                <a:latin typeface="Consolas" panose="020B0609020204030204" pitchFamily="49" charset="0"/>
              </a:rPr>
              <a:t>position</a:t>
            </a:r>
          </a:p>
        </p:txBody>
      </p:sp>
    </p:spTree>
    <p:extLst>
      <p:ext uri="{BB962C8B-B14F-4D97-AF65-F5344CB8AC3E}">
        <p14:creationId xmlns:p14="http://schemas.microsoft.com/office/powerpoint/2010/main" val="13643180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600031-1600-49E3-BFFE-174BF0C735CF}"/>
              </a:ext>
            </a:extLst>
          </p:cNvPr>
          <p:cNvSpPr>
            <a:spLocks noGrp="1"/>
          </p:cNvSpPr>
          <p:nvPr>
            <p:ph type="title"/>
          </p:nvPr>
        </p:nvSpPr>
        <p:spPr/>
        <p:txBody>
          <a:bodyPr/>
          <a:lstStyle/>
          <a:p>
            <a:r>
              <a:rPr lang="es-ES" dirty="0"/>
              <a:t>La propiedad CSS </a:t>
            </a:r>
            <a:r>
              <a:rPr lang="es-ES" dirty="0">
                <a:latin typeface="Consolas" panose="020B0609020204030204" pitchFamily="49" charset="0"/>
              </a:rPr>
              <a:t>z-</a:t>
            </a:r>
            <a:r>
              <a:rPr lang="es-ES" dirty="0" err="1">
                <a:latin typeface="Consolas" panose="020B0609020204030204" pitchFamily="49" charset="0"/>
              </a:rPr>
              <a:t>index</a:t>
            </a:r>
            <a:endParaRPr lang="es-ES" dirty="0"/>
          </a:p>
        </p:txBody>
      </p:sp>
      <p:pic>
        <p:nvPicPr>
          <p:cNvPr id="4" name="Marcador de contenido 3">
            <a:extLst>
              <a:ext uri="{FF2B5EF4-FFF2-40B4-BE49-F238E27FC236}">
                <a16:creationId xmlns:a16="http://schemas.microsoft.com/office/drawing/2014/main" id="{E453F753-9844-4A48-9AEB-5CFAA6DCE87E}"/>
              </a:ext>
            </a:extLst>
          </p:cNvPr>
          <p:cNvPicPr>
            <a:picLocks noGrp="1" noChangeAspect="1"/>
          </p:cNvPicPr>
          <p:nvPr>
            <p:ph idx="1"/>
          </p:nvPr>
        </p:nvPicPr>
        <p:blipFill>
          <a:blip r:embed="rId2"/>
          <a:stretch>
            <a:fillRect/>
          </a:stretch>
        </p:blipFill>
        <p:spPr>
          <a:xfrm>
            <a:off x="1601067" y="1661748"/>
            <a:ext cx="8661679" cy="464807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25229381"/>
      </p:ext>
    </p:extLst>
  </p:cSld>
  <p:clrMapOvr>
    <a:masterClrMapping/>
  </p:clrMapOvr>
</p:sld>
</file>

<file path=ppt/theme/theme1.xml><?xml version="1.0" encoding="utf-8"?>
<a:theme xmlns:a="http://schemas.openxmlformats.org/drawingml/2006/main" name="Galería">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otalTime>2107</TotalTime>
  <Words>1859</Words>
  <Application>Microsoft Office PowerPoint</Application>
  <PresentationFormat>Panorámica</PresentationFormat>
  <Paragraphs>84</Paragraphs>
  <Slides>31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31</vt:i4>
      </vt:variant>
    </vt:vector>
  </HeadingPairs>
  <TitlesOfParts>
    <vt:vector size="35" baseType="lpstr">
      <vt:lpstr>Arial</vt:lpstr>
      <vt:lpstr>Century Gothic</vt:lpstr>
      <vt:lpstr>Consolas</vt:lpstr>
      <vt:lpstr>Galería</vt:lpstr>
      <vt:lpstr>Lenguajes de marca y sistemas de información</vt:lpstr>
      <vt:lpstr>Tipos de posicionamiento</vt:lpstr>
      <vt:lpstr>La propiedad CSS position</vt:lpstr>
      <vt:lpstr>La propiedad CSS position</vt:lpstr>
      <vt:lpstr>Posicionamiento normal (static)</vt:lpstr>
      <vt:lpstr>Posicionamiento relativo (relative)</vt:lpstr>
      <vt:lpstr>Posicionamiento relativo (relative)</vt:lpstr>
      <vt:lpstr>Posicionamiento relativo (relative)</vt:lpstr>
      <vt:lpstr>Posicionamiento relativo (relative)</vt:lpstr>
      <vt:lpstr>Posicionamiento absoluto (absolute)</vt:lpstr>
      <vt:lpstr>Posicionamiento absoluto (absolute)</vt:lpstr>
      <vt:lpstr>Posicionamiento absoluto (absolute)</vt:lpstr>
      <vt:lpstr>Posicionamiento fijo (fixed)</vt:lpstr>
      <vt:lpstr>Posicionamiento fijo (fixed)</vt:lpstr>
      <vt:lpstr>Posicionamiento flotante (float)</vt:lpstr>
      <vt:lpstr>Posicionamiento flotante (float)</vt:lpstr>
      <vt:lpstr>Posicionamiento flotante (float)</vt:lpstr>
      <vt:lpstr>Posicionamiento flotante (float)</vt:lpstr>
      <vt:lpstr>Posicionamiento flotante (float)</vt:lpstr>
      <vt:lpstr>La propiedad CSS clear</vt:lpstr>
      <vt:lpstr>Posicionamiento flotante (float )</vt:lpstr>
      <vt:lpstr>La propiedad CSS clear</vt:lpstr>
      <vt:lpstr>La propiedad CSS display</vt:lpstr>
      <vt:lpstr>La propiedad CSS visibility</vt:lpstr>
      <vt:lpstr>Las propiedades CSS display y visibility</vt:lpstr>
      <vt:lpstr>Las propiedades CSS display y visibility</vt:lpstr>
      <vt:lpstr>Relación entre las propiedades CSS display, float y position</vt:lpstr>
      <vt:lpstr>La propiedad CSS overflow</vt:lpstr>
      <vt:lpstr>La propiedad CSS overflow</vt:lpstr>
      <vt:lpstr>La propiedad CSS z-index</vt:lpstr>
      <vt:lpstr>La propiedad CSS z-index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Lenguajes de marca y sistemas de información</dc:title>
  <dc:creator>antonio muñoz</dc:creator>
  <cp:lastModifiedBy>antonio muñoz</cp:lastModifiedBy>
  <cp:revision>70</cp:revision>
  <dcterms:created xsi:type="dcterms:W3CDTF">2019-11-26T07:00:20Z</dcterms:created>
  <dcterms:modified xsi:type="dcterms:W3CDTF">2019-12-01T22:02:55Z</dcterms:modified>
</cp:coreProperties>
</file>